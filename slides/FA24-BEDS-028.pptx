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8803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615C55"/>
                </a:solidFill>
                <a:latin typeface="Aptos"/>
              </a:rPr>
              <a:t>ECO346  /  DATA VISUALIZATION TECHNIQUES FOR ECONOMISTS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880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AA5136"/>
                </a:solidFill>
                <a:latin typeface="Aptos"/>
              </a:rPr>
              <a:t>INTRODUCTION   ·   1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7208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47852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PSLM 2019–20    ·    RURAL KP / VARIANT 4    ·    FATIMA SHAHID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5288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1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0241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AA5136"/>
                </a:solidFill>
                <a:latin typeface="Aptos"/>
              </a:rPr>
              <a:t>PSLM 2019–20  /  RURAL KHYBER PAKHTUNKHWA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26464"/>
            <a:ext cx="1060704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500" b="0" i="0">
                <a:solidFill>
                  <a:srgbClr val="292522"/>
                </a:solidFill>
                <a:latin typeface="Georgia"/>
              </a:rPr>
              <a:t>Education, seen through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5156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000" b="0" i="0">
                <a:solidFill>
                  <a:srgbClr val="615C55"/>
                </a:solidFill>
                <a:latin typeface="Georgia"/>
              </a:rPr>
              <a:t>What do spending and literacy reveal about rural KP?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60904"/>
            <a:ext cx="10515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15C55"/>
                </a:solidFill>
                <a:latin typeface="Aptos"/>
              </a:rPr>
              <a:t>The story of this analysis — and why the way we show the data matters.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0712"/>
            <a:ext cx="3621024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410712"/>
            <a:ext cx="3621024" cy="41148"/>
          </a:xfrm>
          <a:prstGeom prst="rect">
            <a:avLst/>
          </a:prstGeom>
          <a:solidFill>
            <a:srgbClr val="AA5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65760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AA5136"/>
                </a:solidFill>
                <a:latin typeface="Georgia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36941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292522"/>
                </a:solidFill>
                <a:latin typeface="Aptos"/>
              </a:rPr>
              <a:t>SPENDING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123944"/>
            <a:ext cx="3255264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15C55"/>
                </a:solidFill>
                <a:latin typeface="Aptos"/>
              </a:rPr>
              <a:t>Where does annual education spending cluster — and how wide is the spread?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410712"/>
            <a:ext cx="3621024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3410712"/>
            <a:ext cx="3621024" cy="41148"/>
          </a:xfrm>
          <a:prstGeom prst="rect">
            <a:avLst/>
          </a:prstGeom>
          <a:solidFill>
            <a:srgbClr val="71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65760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717A62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36941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292522"/>
                </a:solidFill>
                <a:latin typeface="Aptos"/>
              </a:rPr>
              <a:t>LITERACY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4123944"/>
            <a:ext cx="3255264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15C55"/>
                </a:solidFill>
                <a:latin typeface="Aptos"/>
              </a:rPr>
              <a:t>How do weighted literacy rates vary by age and between women and men?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3410712"/>
            <a:ext cx="3621024" cy="1645920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3410712"/>
            <a:ext cx="3621024" cy="41148"/>
          </a:xfrm>
          <a:prstGeom prst="rect">
            <a:avLst/>
          </a:prstGeom>
          <a:solidFill>
            <a:srgbClr val="AA5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22208" y="3657600"/>
            <a:ext cx="685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AA5136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36941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292522"/>
                </a:solidFill>
                <a:latin typeface="Aptos"/>
              </a:rPr>
              <a:t>VISUALIZATION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4123944"/>
            <a:ext cx="3255264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615C55"/>
                </a:solidFill>
                <a:latin typeface="Aptos"/>
              </a:rPr>
              <a:t>How much clearer is the same literacy data after a graph makeover?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13248"/>
            <a:ext cx="10881360" cy="576072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573268"/>
            <a:ext cx="548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717A62"/>
                </a:solidFill>
                <a:latin typeface="Aptos"/>
              </a:rPr>
              <a:t>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556412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92522"/>
                </a:solidFill>
                <a:latin typeface="Aptos"/>
              </a:rPr>
              <a:t>Person + household PSLM files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573268"/>
            <a:ext cx="603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717A62"/>
                </a:solidFill>
                <a:latin typeface="Aptos"/>
              </a:rPr>
              <a:t>MATCH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2624" y="5564124"/>
            <a:ext cx="594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92522"/>
                </a:solidFill>
                <a:latin typeface="Aptos"/>
              </a:rPr>
              <a:t>hhid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5573268"/>
            <a:ext cx="76809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717A62"/>
                </a:solidFill>
                <a:latin typeface="Aptos"/>
              </a:rPr>
              <a:t>WEIGHT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564124"/>
            <a:ext cx="1234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92522"/>
                </a:solidFill>
                <a:latin typeface="Aptos"/>
              </a:rPr>
              <a:t>hhweight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5732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717A62"/>
                </a:solidFill>
                <a:latin typeface="Aptos"/>
              </a:rPr>
              <a:t>PRESENTER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5564124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292522"/>
                </a:solidFill>
                <a:latin typeface="Aptos"/>
              </a:rPr>
              <a:t>FA24-BED-028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8803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615C55"/>
                </a:solidFill>
                <a:latin typeface="Aptos"/>
              </a:rPr>
              <a:t>ECO346  /  DATA VISUALIZATION TECHNIQUES FOR ECONOMISTS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880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AA5136"/>
                </a:solidFill>
                <a:latin typeface="Aptos"/>
              </a:rPr>
              <a:t>EDUCATION SPENDING   ·   2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7208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47852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PSLM 2019–20    ·    RURAL KP / VARIANT 4    ·    FATIMA SHAHID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5288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2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292522"/>
                </a:solidFill>
                <a:latin typeface="Georgia"/>
              </a:rPr>
              <a:t>Education spending varies widely.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40" b="0" i="0">
                <a:solidFill>
                  <a:srgbClr val="615C55"/>
                </a:solidFill>
                <a:latin typeface="Aptos"/>
              </a:rPr>
              <a:t>Rural KP students with positive annual spending  ·  Survey-weighted density on a log10 rupee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815084"/>
            <a:ext cx="7644383" cy="4142232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1_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892807"/>
            <a:ext cx="7479792" cy="39867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531352" y="1901952"/>
            <a:ext cx="39319" cy="3968496"/>
          </a:xfrm>
          <a:prstGeom prst="rect">
            <a:avLst/>
          </a:prstGeom>
          <a:solidFill>
            <a:srgbClr val="71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87384" y="1956816"/>
            <a:ext cx="2670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717A62"/>
                </a:solidFill>
                <a:latin typeface="Aptos"/>
              </a:rPr>
              <a:t>THE DISTRIBUTION  /  RURAL KP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240280"/>
            <a:ext cx="267004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700" b="0" i="0">
                <a:solidFill>
                  <a:srgbClr val="292522"/>
                </a:solidFill>
                <a:latin typeface="Georgia"/>
              </a:rPr>
              <a:t>4,912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715768"/>
            <a:ext cx="25968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15C55"/>
                </a:solidFill>
                <a:latin typeface="Aptos"/>
              </a:rPr>
              <a:t>eligible person records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87384" y="3044952"/>
            <a:ext cx="2615184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191256"/>
            <a:ext cx="26883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600" b="0" i="0">
                <a:solidFill>
                  <a:srgbClr val="292522"/>
                </a:solidFill>
                <a:latin typeface="Georgia"/>
              </a:rPr>
              <a:t>Rs 7,000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816" y="3621024"/>
            <a:ext cx="25968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70" b="0" i="0">
                <a:solidFill>
                  <a:srgbClr val="615C55"/>
                </a:solidFill>
                <a:latin typeface="Aptos"/>
              </a:rPr>
              <a:t>weighted = unweighted median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87384" y="4041648"/>
            <a:ext cx="2615184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4169663"/>
            <a:ext cx="26060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92522"/>
                </a:solidFill>
                <a:latin typeface="Aptos"/>
              </a:rPr>
              <a:t>P10  /  Rs 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4498848"/>
            <a:ext cx="260604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292522"/>
                </a:solidFill>
                <a:latin typeface="Aptos"/>
              </a:rPr>
              <a:t>P90  /  Rs 25,000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87384" y="4892040"/>
            <a:ext cx="2615184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5010912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 i="0">
                <a:solidFill>
                  <a:srgbClr val="AA5136"/>
                </a:solidFill>
                <a:latin typeface="Georgia"/>
              </a:rPr>
              <a:t>10.00×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13264" y="5138928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15C55"/>
                </a:solidFill>
                <a:latin typeface="Aptos"/>
              </a:rPr>
              <a:t>P90 / P10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5504688"/>
            <a:ext cx="265176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15C55"/>
                </a:solidFill>
                <a:latin typeface="Aptos"/>
              </a:rPr>
              <a:t>Only 3 observations fall outside the required Rs 100–1,000,000 graph range.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144768"/>
            <a:ext cx="107899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0" i="0">
                <a:solidFill>
                  <a:srgbClr val="615C55"/>
                </a:solidFill>
                <a:latin typeface="Aptos"/>
              </a:rPr>
              <a:t>READ THE BARS   |   Weighted density, not student count  ·  Dashed lines: median and P90.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8803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615C55"/>
                </a:solidFill>
                <a:latin typeface="Aptos"/>
              </a:rPr>
              <a:t>ECO346  /  DATA VISUALIZATION TECHNIQUES FOR ECONOMISTS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880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AA5136"/>
                </a:solidFill>
                <a:latin typeface="Aptos"/>
              </a:rPr>
              <a:t>LITERACY BY AGE   ·   3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7208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47852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PSLM 2019–20    ·    RURAL KP / VARIANT 4    ·    FATIMA SHAHID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5288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3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7782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900" b="0" i="0">
                <a:solidFill>
                  <a:srgbClr val="292522"/>
                </a:solidFill>
                <a:latin typeface="Georgia"/>
              </a:rPr>
              <a:t>The largest literacy gap is at ages 45–49.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264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615C55"/>
                </a:solidFill>
                <a:latin typeface="Aptos"/>
              </a:rPr>
              <a:t>Survey-weighted literacy rates  ·  Rural KP residents aged 10–64  ·  Eleven five-year bands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47088"/>
            <a:ext cx="7251192" cy="4215384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lide3_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901952"/>
            <a:ext cx="7095744" cy="40782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29016" y="1892807"/>
            <a:ext cx="40233" cy="4096512"/>
          </a:xfrm>
          <a:prstGeom prst="rect">
            <a:avLst/>
          </a:prstGeom>
          <a:solidFill>
            <a:srgbClr val="717A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929384"/>
            <a:ext cx="308152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 i="0">
                <a:solidFill>
                  <a:srgbClr val="717A62"/>
                </a:solidFill>
                <a:latin typeface="Aptos"/>
              </a:rPr>
              <a:t>WOMEN VS 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2258568"/>
            <a:ext cx="292608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292522"/>
                </a:solidFill>
                <a:latin typeface="Georgia"/>
              </a:rPr>
              <a:t>Ages 15–19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624328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b="0" i="0">
                <a:solidFill>
                  <a:srgbClr val="615C55"/>
                </a:solidFill>
                <a:latin typeface="Aptos"/>
              </a:rPr>
              <a:t>Men 85.1%   ·   Women 52.6%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57616" y="3026664"/>
            <a:ext cx="2798064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3191256"/>
            <a:ext cx="29809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292522"/>
                </a:solidFill>
                <a:latin typeface="Georgia"/>
              </a:rPr>
              <a:t>Ages 45–49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3538728"/>
            <a:ext cx="319125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b="0" i="0">
                <a:solidFill>
                  <a:srgbClr val="615C55"/>
                </a:solidFill>
                <a:latin typeface="Aptos"/>
              </a:rPr>
              <a:t>Men 57.0%   ·   Women 10.5%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3904487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500" b="0" i="0">
                <a:solidFill>
                  <a:srgbClr val="AA5136"/>
                </a:solidFill>
                <a:latin typeface="Georgia"/>
              </a:rPr>
              <a:t>46.6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3708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 i="0">
                <a:solidFill>
                  <a:srgbClr val="615C55"/>
                </a:solidFill>
                <a:latin typeface="Aptos"/>
              </a:rPr>
              <a:t>largest gap (from unrounded rates)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57616" y="4828032"/>
            <a:ext cx="2798064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57616" y="4992624"/>
            <a:ext cx="298094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292522"/>
                </a:solidFill>
                <a:latin typeface="Georgia"/>
              </a:rPr>
              <a:t>Ages 55–59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5349240"/>
            <a:ext cx="319125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80" b="0" i="0">
                <a:solidFill>
                  <a:srgbClr val="615C55"/>
                </a:solidFill>
                <a:latin typeface="Aptos"/>
              </a:rPr>
              <a:t>Men 43.0%   ·   Women 2.9%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163056"/>
            <a:ext cx="10835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70" b="0" i="0">
                <a:solidFill>
                  <a:srgbClr val="615C55"/>
                </a:solidFill>
                <a:latin typeface="Aptos"/>
              </a:rPr>
              <a:t>HOW TO READ   |   Separate lines show estimated group percentages; this compares different age groups, not the same people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8803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615C55"/>
                </a:solidFill>
                <a:latin typeface="Aptos"/>
              </a:rPr>
              <a:t>ECO346  /  DATA VISUALIZATION TECHNIQUES FOR ECONOMISTS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288036"/>
            <a:ext cx="2286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AA5136"/>
                </a:solidFill>
                <a:latin typeface="Aptos"/>
              </a:rPr>
              <a:t>MAKEOVER &amp; CROSS-CHECK   ·   4 / 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7208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6478524"/>
            <a:ext cx="11000232" cy="16459"/>
          </a:xfrm>
          <a:prstGeom prst="rect">
            <a:avLst/>
          </a:prstGeom>
          <a:solidFill>
            <a:srgbClr val="D8D1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PSLM 2019–20    ·    RURAL KP / VARIANT 4    ·    FATIMA SHAHID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71632" y="652881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800" b="0" i="0">
                <a:solidFill>
                  <a:srgbClr val="615C55"/>
                </a:solidFill>
                <a:latin typeface="Aptos"/>
              </a:rPr>
              <a:t>4 /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886968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850" b="0" i="0">
                <a:solidFill>
                  <a:srgbClr val="292522"/>
                </a:solidFill>
                <a:latin typeface="Georgia"/>
              </a:rPr>
              <a:t>Same literacy data. A much clearer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0" i="0">
                <a:solidFill>
                  <a:srgbClr val="615C55"/>
                </a:solidFill>
                <a:latin typeface="Aptos"/>
              </a:rPr>
              <a:t>From overlapping individual dots to comparable weighted rates — then independently verified in Python.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AA5136"/>
                </a:solidFill>
                <a:latin typeface="Aptos"/>
              </a:rPr>
              <a:t>BEFORE  /  DEFAULT SCATTERPLOT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AA5136"/>
                </a:solidFill>
                <a:latin typeface="Aptos"/>
              </a:rPr>
              <a:t>AFTER  /  WEIGHTED AGE–SEX RATES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48256"/>
            <a:ext cx="5422392" cy="2889504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17336" y="2048256"/>
            <a:ext cx="5422392" cy="2889504"/>
          </a:xfrm>
          <a:prstGeom prst="rect">
            <a:avLst/>
          </a:prstGeom>
          <a:solidFill>
            <a:srgbClr val="FFFFFF"/>
          </a:solidFill>
          <a:ln w="8255">
            <a:solidFill>
              <a:srgbClr val="D8D1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lide3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5029200" cy="2798064"/>
          </a:xfrm>
          <a:prstGeom prst="rect">
            <a:avLst/>
          </a:prstGeom>
        </p:spPr>
      </p:pic>
      <p:pic>
        <p:nvPicPr>
          <p:cNvPr id="15" name="Picture 14" descr="slide3_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2103120"/>
            <a:ext cx="5102352" cy="27980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656" y="5111496"/>
            <a:ext cx="365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AA5136"/>
                </a:solidFill>
                <a:latin typeface="Georgia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5148072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292522"/>
                </a:solidFill>
                <a:latin typeface="Aptos"/>
              </a:rPr>
              <a:t>LESS OVERPLOTTING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43153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15C55"/>
                </a:solidFill>
                <a:latin typeface="Aptos"/>
              </a:rPr>
              <a:t>Group-level rates replace stacked 0/1 dots.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416" y="5111496"/>
            <a:ext cx="365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AA5136"/>
                </a:solidFill>
                <a:latin typeface="Georgia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9744" y="5148072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292522"/>
                </a:solidFill>
                <a:latin typeface="Aptos"/>
              </a:rPr>
              <a:t>EASIER COMPARISONS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543153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15C55"/>
                </a:solidFill>
                <a:latin typeface="Aptos"/>
              </a:rPr>
              <a:t>Two series on one percentage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5111496"/>
            <a:ext cx="36576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AA5136"/>
                </a:solidFill>
                <a:latin typeface="Georgia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5" y="5148072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1" i="0">
                <a:solidFill>
                  <a:srgbClr val="292522"/>
                </a:solidFill>
                <a:latin typeface="Aptos"/>
              </a:rPr>
              <a:t>CLEARER 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5431536"/>
            <a:ext cx="356616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15C55"/>
                </a:solidFill>
                <a:latin typeface="Aptos"/>
              </a:rPr>
              <a:t>Direct labels flag the 45–49 gap.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" y="5934456"/>
            <a:ext cx="10789920" cy="365760"/>
          </a:xfrm>
          <a:prstGeom prst="rect">
            <a:avLst/>
          </a:prstGeom>
          <a:solidFill>
            <a:srgbClr val="F0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" y="6035040"/>
            <a:ext cx="7955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717A62"/>
                </a:solidFill>
                <a:latin typeface="Aptos"/>
              </a:rPr>
              <a:t>VERIFIED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9344" y="6025896"/>
            <a:ext cx="3246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0" i="0">
                <a:solidFill>
                  <a:srgbClr val="292522"/>
                </a:solidFill>
                <a:latin typeface="Aptos"/>
              </a:rPr>
              <a:t>R &amp; Python match 22/22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8072" y="603504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 i="0">
                <a:solidFill>
                  <a:srgbClr val="AA5136"/>
                </a:solidFill>
                <a:latin typeface="Aptos"/>
              </a:rPr>
              <a:t>LIMITATION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6025896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30" b="0" i="0">
                <a:solidFill>
                  <a:srgbClr val="292522"/>
                </a:solidFill>
                <a:latin typeface="Aptos"/>
              </a:rPr>
              <a:t>Cross-sectional data describe gaps; they do not explain their causes.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