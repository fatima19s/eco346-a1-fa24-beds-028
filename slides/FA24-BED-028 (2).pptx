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0:00–1:05 | Start with a question rather than the assignment title. ‘If two adults belong to the same age group and live in rural KP, does literacy look equal for women and men?’ Pause. ‘Among 45–49 year-olds in this sample, 57.0% of men and 10.5% of women are literate—a difference of approximately 46.6 percentage points when calculated before rounding.’ Explain the project covers both education spending and literacy. This is a descriptive finding, not a causal explanation. Transition: ‘Let me show you why the way I plotted the data mattered.’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1:05–2:20 | First, point to the left: ‘This is the default R graph: one dot per respondent, literacy recorded as zero or one.’ Ask the professor to notice how the points overlap and obscure any gradient. Then point to the right: ‘I redesigned the chart by calculating survey-weighted literacy rates in eleven five-year age bands and separating men and women.’ Identify three principles: remove overplotting with conditional means; compare positions on a common axis; annotate the largest gap and label series directly rather than sending viewers to a legend. Mention a trade-off: the redesigned graph hides individual-level observations and within-band variation.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2:20–3:30 | ‘The second research question is how much households spend on each student’s education.’ The graph uses a log10 x-axis because spending spans from hundreds to large values. The sample contains 4,912 students, with three values outside the plotting range. ‘The weighted median is Rs 7,000 per year, while the weighted 90th percentile is Rs 25,000. This means the upper part of the distribution has substantially higher spending than a typical student.’ Explain that survey weights adjust each respondent’s contribution to population representation and density is shown per log10 unit, not raw counts. Avoid claiming the histogram identifies the cause of unequal spending.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3:30–5:00 | ‘The final finding is consistent across cohorts: male literacy is higher in every five-year age band in the study.’ At ages 15–19, 85.1% of men versus 52.6% of women are literate. At ages 45–49, the difference is especially large: 57.0% versus 10.5%, approximately 46.6 percentage points using the unrounded rates. ‘To check the calculations, I reproduced the weighted band table in Python. All 22 age-by-sex rates matched R to one decimal place.’ End with a cautious economic interpretation: the figures describe inequalities across age groups, but the cross-sectional data cannot tell us the causes, nor can they be treated as within-person changes over time. Close: ‘Better graphs make inequality easier to see; careful interpretation tells us what we can—and cannot—conclude.’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621792" y="292608"/>
            <a:ext cx="7772400" cy="237744"/>
          </a:xfrm>
          <a:prstGeom prst="rect">
            <a:avLst/>
          </a:prstGeom>
          <a:noFill/>
        </p:spPr>
        <p:txBody>
          <a:bodyPr wrap="square" lIns="0" rIns="0" tIns="0" bIns="0">
            <a:spAutoFit/>
          </a:bodyPr>
          <a:lstStyle/>
          <a:p>
            <a:pPr algn="l">
              <a:defRPr sz="1019" b="1" i="0">
                <a:solidFill>
                  <a:srgbClr val="605B53"/>
                </a:solidFill>
                <a:latin typeface="Arial"/>
              </a:defRPr>
            </a:pPr>
            <a:r>
              <a:t>COMSATS UNIVERSITY  /  ECO346  /  FALL 2026</a:t>
            </a:r>
          </a:p>
        </p:txBody>
      </p:sp>
      <p:sp>
        <p:nvSpPr>
          <p:cNvPr id="3" name="TextBox 2"/>
          <p:cNvSpPr txBox="1"/>
          <p:nvPr/>
        </p:nvSpPr>
        <p:spPr>
          <a:xfrm>
            <a:off x="9326880" y="301752"/>
            <a:ext cx="2240280" cy="219456"/>
          </a:xfrm>
          <a:prstGeom prst="rect">
            <a:avLst/>
          </a:prstGeom>
          <a:noFill/>
        </p:spPr>
        <p:txBody>
          <a:bodyPr wrap="square" lIns="0" rIns="0" tIns="0" bIns="0">
            <a:spAutoFit/>
          </a:bodyPr>
          <a:lstStyle/>
          <a:p>
            <a:pPr algn="r">
              <a:defRPr sz="969" b="1" i="0">
                <a:solidFill>
                  <a:srgbClr val="A1523C"/>
                </a:solidFill>
                <a:latin typeface="Arial"/>
              </a:defRPr>
            </a:pPr>
            <a:r>
              <a:t>FA24-BED-028   ·   01 / 04</a:t>
            </a:r>
          </a:p>
        </p:txBody>
      </p:sp>
      <p:sp>
        <p:nvSpPr>
          <p:cNvPr id="4" name="Rectangle 3"/>
          <p:cNvSpPr/>
          <p:nvPr/>
        </p:nvSpPr>
        <p:spPr>
          <a:xfrm>
            <a:off x="594360" y="740664"/>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69848"/>
            <a:ext cx="5212080" cy="274320"/>
          </a:xfrm>
          <a:prstGeom prst="rect">
            <a:avLst/>
          </a:prstGeom>
          <a:noFill/>
        </p:spPr>
        <p:txBody>
          <a:bodyPr wrap="square" lIns="0" rIns="0" tIns="0" bIns="0">
            <a:spAutoFit/>
          </a:bodyPr>
          <a:lstStyle/>
          <a:p>
            <a:pPr algn="l">
              <a:defRPr sz="1210" b="1" i="0">
                <a:solidFill>
                  <a:srgbClr val="A1523C"/>
                </a:solidFill>
                <a:latin typeface="Arial"/>
              </a:defRPr>
            </a:pPr>
            <a:r>
              <a:t>EDUCATION, SEEN THROUGH DATA</a:t>
            </a:r>
          </a:p>
        </p:txBody>
      </p:sp>
      <p:sp>
        <p:nvSpPr>
          <p:cNvPr id="6" name="TextBox 5"/>
          <p:cNvSpPr txBox="1"/>
          <p:nvPr/>
        </p:nvSpPr>
        <p:spPr>
          <a:xfrm>
            <a:off x="612648" y="1527048"/>
            <a:ext cx="6537960" cy="2011680"/>
          </a:xfrm>
          <a:prstGeom prst="rect">
            <a:avLst/>
          </a:prstGeom>
          <a:noFill/>
        </p:spPr>
        <p:txBody>
          <a:bodyPr wrap="square" lIns="0" rIns="0" tIns="0" bIns="0">
            <a:spAutoFit/>
          </a:bodyPr>
          <a:lstStyle/>
          <a:p>
            <a:pPr algn="l">
              <a:defRPr sz="3450" b="0" i="0">
                <a:solidFill>
                  <a:srgbClr val="262420"/>
                </a:solidFill>
                <a:latin typeface="Georgia"/>
              </a:defRPr>
            </a:pPr>
            <a:r>
              <a:t>The same region.</a:t>
            </a:r>
          </a:p>
          <a:p>
            <a:pPr algn="l">
              <a:defRPr sz="3450" b="0" i="0">
                <a:solidFill>
                  <a:srgbClr val="262420"/>
                </a:solidFill>
                <a:latin typeface="Georgia"/>
              </a:defRPr>
            </a:pPr>
            <a:r>
              <a:t>Very different literacy outcomes.</a:t>
            </a:r>
          </a:p>
        </p:txBody>
      </p:sp>
      <p:sp>
        <p:nvSpPr>
          <p:cNvPr id="7" name="TextBox 6"/>
          <p:cNvSpPr txBox="1"/>
          <p:nvPr/>
        </p:nvSpPr>
        <p:spPr>
          <a:xfrm>
            <a:off x="658368" y="3694176"/>
            <a:ext cx="6199632" cy="868680"/>
          </a:xfrm>
          <a:prstGeom prst="rect">
            <a:avLst/>
          </a:prstGeom>
          <a:noFill/>
        </p:spPr>
        <p:txBody>
          <a:bodyPr wrap="square" lIns="0" rIns="0" tIns="0" bIns="0">
            <a:spAutoFit/>
          </a:bodyPr>
          <a:lstStyle/>
          <a:p>
            <a:pPr algn="l">
              <a:defRPr sz="1800" b="0" i="0">
                <a:solidFill>
                  <a:srgbClr val="262420"/>
                </a:solidFill>
                <a:latin typeface="Arial"/>
              </a:defRPr>
            </a:pPr>
            <a:r>
              <a:t>How can data visualization reveal inequality in rural Khyber Pakhtunkhwa?</a:t>
            </a:r>
          </a:p>
        </p:txBody>
      </p:sp>
      <p:sp>
        <p:nvSpPr>
          <p:cNvPr id="8" name="TextBox 7"/>
          <p:cNvSpPr txBox="1"/>
          <p:nvPr/>
        </p:nvSpPr>
        <p:spPr>
          <a:xfrm>
            <a:off x="658368" y="4645152"/>
            <a:ext cx="6217920" cy="731520"/>
          </a:xfrm>
          <a:prstGeom prst="rect">
            <a:avLst/>
          </a:prstGeom>
          <a:noFill/>
        </p:spPr>
        <p:txBody>
          <a:bodyPr wrap="square" lIns="0" rIns="0" tIns="0" bIns="0">
            <a:spAutoFit/>
          </a:bodyPr>
          <a:lstStyle/>
          <a:p>
            <a:pPr algn="l">
              <a:defRPr sz="1340" b="0" i="0">
                <a:solidFill>
                  <a:srgbClr val="605B53"/>
                </a:solidFill>
                <a:latin typeface="Arial"/>
              </a:defRPr>
            </a:pPr>
            <a:r>
              <a:t>An analysis of education spending and literacy using PSLM 2019–20, weighted survey data, and reproducible code.</a:t>
            </a:r>
          </a:p>
        </p:txBody>
      </p:sp>
      <p:sp>
        <p:nvSpPr>
          <p:cNvPr id="9" name="Rectangle 8"/>
          <p:cNvSpPr/>
          <p:nvPr/>
        </p:nvSpPr>
        <p:spPr>
          <a:xfrm>
            <a:off x="7315200" y="1088136"/>
            <a:ext cx="45720" cy="4389120"/>
          </a:xfrm>
          <a:prstGeom prst="rect">
            <a:avLst/>
          </a:prstGeom>
          <a:solidFill>
            <a:srgbClr val="A15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90688" y="1508760"/>
            <a:ext cx="3611880" cy="713232"/>
          </a:xfrm>
          <a:prstGeom prst="rect">
            <a:avLst/>
          </a:prstGeom>
          <a:noFill/>
        </p:spPr>
        <p:txBody>
          <a:bodyPr wrap="square" lIns="0" rIns="0" tIns="0" bIns="0">
            <a:spAutoFit/>
          </a:bodyPr>
          <a:lstStyle/>
          <a:p>
            <a:pPr algn="l">
              <a:defRPr sz="5400" b="0" i="0">
                <a:solidFill>
                  <a:srgbClr val="A1523C"/>
                </a:solidFill>
                <a:latin typeface="Georgia"/>
              </a:defRPr>
            </a:pPr>
            <a:r>
              <a:t>46.6</a:t>
            </a:r>
          </a:p>
        </p:txBody>
      </p:sp>
      <p:sp>
        <p:nvSpPr>
          <p:cNvPr id="11" name="TextBox 10"/>
          <p:cNvSpPr txBox="1"/>
          <p:nvPr/>
        </p:nvSpPr>
        <p:spPr>
          <a:xfrm>
            <a:off x="7827264" y="2432304"/>
            <a:ext cx="3611880" cy="603504"/>
          </a:xfrm>
          <a:prstGeom prst="rect">
            <a:avLst/>
          </a:prstGeom>
          <a:noFill/>
        </p:spPr>
        <p:txBody>
          <a:bodyPr wrap="square" lIns="0" rIns="0" tIns="0" bIns="0">
            <a:spAutoFit/>
          </a:bodyPr>
          <a:lstStyle/>
          <a:p>
            <a:pPr algn="l">
              <a:defRPr sz="1900" b="1" i="0">
                <a:solidFill>
                  <a:srgbClr val="262420"/>
                </a:solidFill>
                <a:latin typeface="Arial"/>
              </a:defRPr>
            </a:pPr>
            <a:r>
              <a:t>percentage-point</a:t>
            </a:r>
          </a:p>
          <a:p>
            <a:pPr algn="l">
              <a:defRPr sz="1900" b="1" i="0">
                <a:solidFill>
                  <a:srgbClr val="262420"/>
                </a:solidFill>
                <a:latin typeface="Arial"/>
              </a:defRPr>
            </a:pPr>
            <a:r>
              <a:t>literacy gap</a:t>
            </a:r>
          </a:p>
        </p:txBody>
      </p:sp>
      <p:sp>
        <p:nvSpPr>
          <p:cNvPr id="12" name="TextBox 11"/>
          <p:cNvSpPr txBox="1"/>
          <p:nvPr/>
        </p:nvSpPr>
        <p:spPr>
          <a:xfrm>
            <a:off x="7827264" y="3374136"/>
            <a:ext cx="3520440" cy="283464"/>
          </a:xfrm>
          <a:prstGeom prst="rect">
            <a:avLst/>
          </a:prstGeom>
          <a:noFill/>
        </p:spPr>
        <p:txBody>
          <a:bodyPr wrap="square" lIns="0" rIns="0" tIns="0" bIns="0">
            <a:spAutoFit/>
          </a:bodyPr>
          <a:lstStyle/>
          <a:p>
            <a:pPr algn="l">
              <a:defRPr sz="1300" b="0" i="0">
                <a:solidFill>
                  <a:srgbClr val="605B53"/>
                </a:solidFill>
                <a:latin typeface="Arial"/>
              </a:defRPr>
            </a:pPr>
            <a:r>
              <a:t>Among people aged 45–49</a:t>
            </a:r>
          </a:p>
        </p:txBody>
      </p:sp>
      <p:sp>
        <p:nvSpPr>
          <p:cNvPr id="13" name="Rectangle 12"/>
          <p:cNvSpPr/>
          <p:nvPr/>
        </p:nvSpPr>
        <p:spPr>
          <a:xfrm>
            <a:off x="7827264" y="3886200"/>
            <a:ext cx="3557015"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4151376"/>
            <a:ext cx="3566160" cy="365760"/>
          </a:xfrm>
          <a:prstGeom prst="rect">
            <a:avLst/>
          </a:prstGeom>
          <a:noFill/>
        </p:spPr>
        <p:txBody>
          <a:bodyPr wrap="square" lIns="0" rIns="0" tIns="0" bIns="0">
            <a:spAutoFit/>
          </a:bodyPr>
          <a:lstStyle/>
          <a:p>
            <a:pPr algn="l">
              <a:defRPr sz="1400" b="1" i="0">
                <a:solidFill>
                  <a:srgbClr val="262420"/>
                </a:solidFill>
                <a:latin typeface="Arial"/>
              </a:defRPr>
            </a:pPr>
            <a:r>
              <a:t>Men   57.0%  ·  Women   10.5%</a:t>
            </a:r>
          </a:p>
        </p:txBody>
      </p:sp>
      <p:sp>
        <p:nvSpPr>
          <p:cNvPr id="15" name="TextBox 14"/>
          <p:cNvSpPr txBox="1"/>
          <p:nvPr/>
        </p:nvSpPr>
        <p:spPr>
          <a:xfrm>
            <a:off x="7827264" y="4700016"/>
            <a:ext cx="3429000" cy="713232"/>
          </a:xfrm>
          <a:prstGeom prst="rect">
            <a:avLst/>
          </a:prstGeom>
          <a:noFill/>
        </p:spPr>
        <p:txBody>
          <a:bodyPr wrap="square" lIns="0" rIns="0" tIns="0" bIns="0">
            <a:spAutoFit/>
          </a:bodyPr>
          <a:lstStyle/>
          <a:p>
            <a:pPr algn="l">
              <a:defRPr sz="1260" b="0" i="0">
                <a:solidFill>
                  <a:srgbClr val="605B53"/>
                </a:solidFill>
                <a:latin typeface="Arial"/>
              </a:defRPr>
            </a:pPr>
            <a:r>
              <a:t>The graph makes this contrast visible. It does not, on its own, tell us why it exists.</a:t>
            </a:r>
          </a:p>
        </p:txBody>
      </p:sp>
      <p:sp>
        <p:nvSpPr>
          <p:cNvPr id="16" name="Rectangle 15"/>
          <p:cNvSpPr/>
          <p:nvPr/>
        </p:nvSpPr>
        <p:spPr>
          <a:xfrm>
            <a:off x="594360" y="5861304"/>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6025896"/>
            <a:ext cx="2926080" cy="201168"/>
          </a:xfrm>
          <a:prstGeom prst="rect">
            <a:avLst/>
          </a:prstGeom>
          <a:noFill/>
        </p:spPr>
        <p:txBody>
          <a:bodyPr wrap="square" lIns="0" rIns="0" tIns="0" bIns="0">
            <a:spAutoFit/>
          </a:bodyPr>
          <a:lstStyle/>
          <a:p>
            <a:pPr algn="l">
              <a:defRPr sz="900" b="1" i="0">
                <a:solidFill>
                  <a:srgbClr val="A1523C"/>
                </a:solidFill>
                <a:latin typeface="Arial"/>
              </a:defRPr>
            </a:pPr>
            <a:r>
              <a:t>LOCATION</a:t>
            </a:r>
          </a:p>
        </p:txBody>
      </p:sp>
      <p:sp>
        <p:nvSpPr>
          <p:cNvPr id="18" name="TextBox 17"/>
          <p:cNvSpPr txBox="1"/>
          <p:nvPr/>
        </p:nvSpPr>
        <p:spPr>
          <a:xfrm>
            <a:off x="658368" y="6254496"/>
            <a:ext cx="2926080" cy="274320"/>
          </a:xfrm>
          <a:prstGeom prst="rect">
            <a:avLst/>
          </a:prstGeom>
          <a:noFill/>
        </p:spPr>
        <p:txBody>
          <a:bodyPr wrap="square" lIns="0" rIns="0" tIns="0" bIns="0">
            <a:spAutoFit/>
          </a:bodyPr>
          <a:lstStyle/>
          <a:p>
            <a:pPr algn="l">
              <a:defRPr sz="1170" b="1" i="0">
                <a:solidFill>
                  <a:srgbClr val="262420"/>
                </a:solidFill>
                <a:latin typeface="Arial"/>
              </a:defRPr>
            </a:pPr>
            <a:r>
              <a:t>Rural KP</a:t>
            </a:r>
          </a:p>
        </p:txBody>
      </p:sp>
      <p:sp>
        <p:nvSpPr>
          <p:cNvPr id="19" name="TextBox 18"/>
          <p:cNvSpPr txBox="1"/>
          <p:nvPr/>
        </p:nvSpPr>
        <p:spPr>
          <a:xfrm>
            <a:off x="3749039" y="6025896"/>
            <a:ext cx="2926080" cy="201168"/>
          </a:xfrm>
          <a:prstGeom prst="rect">
            <a:avLst/>
          </a:prstGeom>
          <a:noFill/>
        </p:spPr>
        <p:txBody>
          <a:bodyPr wrap="square" lIns="0" rIns="0" tIns="0" bIns="0">
            <a:spAutoFit/>
          </a:bodyPr>
          <a:lstStyle/>
          <a:p>
            <a:pPr algn="l">
              <a:defRPr sz="900" b="1" i="0">
                <a:solidFill>
                  <a:srgbClr val="A1523C"/>
                </a:solidFill>
                <a:latin typeface="Arial"/>
              </a:defRPr>
            </a:pPr>
            <a:r>
              <a:t>METHOD</a:t>
            </a:r>
          </a:p>
        </p:txBody>
      </p:sp>
      <p:sp>
        <p:nvSpPr>
          <p:cNvPr id="20" name="TextBox 19"/>
          <p:cNvSpPr txBox="1"/>
          <p:nvPr/>
        </p:nvSpPr>
        <p:spPr>
          <a:xfrm>
            <a:off x="3749039" y="6254496"/>
            <a:ext cx="2926080" cy="274320"/>
          </a:xfrm>
          <a:prstGeom prst="rect">
            <a:avLst/>
          </a:prstGeom>
          <a:noFill/>
        </p:spPr>
        <p:txBody>
          <a:bodyPr wrap="square" lIns="0" rIns="0" tIns="0" bIns="0">
            <a:spAutoFit/>
          </a:bodyPr>
          <a:lstStyle/>
          <a:p>
            <a:pPr algn="l">
              <a:defRPr sz="1170" b="1" i="0">
                <a:solidFill>
                  <a:srgbClr val="262420"/>
                </a:solidFill>
                <a:latin typeface="Arial"/>
              </a:defRPr>
            </a:pPr>
            <a:r>
              <a:t>Survey-weighted</a:t>
            </a:r>
          </a:p>
        </p:txBody>
      </p:sp>
      <p:sp>
        <p:nvSpPr>
          <p:cNvPr id="21" name="TextBox 20"/>
          <p:cNvSpPr txBox="1"/>
          <p:nvPr/>
        </p:nvSpPr>
        <p:spPr>
          <a:xfrm>
            <a:off x="7086600" y="6025896"/>
            <a:ext cx="2926080" cy="201168"/>
          </a:xfrm>
          <a:prstGeom prst="rect">
            <a:avLst/>
          </a:prstGeom>
          <a:noFill/>
        </p:spPr>
        <p:txBody>
          <a:bodyPr wrap="square" lIns="0" rIns="0" tIns="0" bIns="0">
            <a:spAutoFit/>
          </a:bodyPr>
          <a:lstStyle/>
          <a:p>
            <a:pPr algn="l">
              <a:defRPr sz="900" b="1" i="0">
                <a:solidFill>
                  <a:srgbClr val="A1523C"/>
                </a:solidFill>
                <a:latin typeface="Arial"/>
              </a:defRPr>
            </a:pPr>
            <a:r>
              <a:t>OUTPUT</a:t>
            </a:r>
          </a:p>
        </p:txBody>
      </p:sp>
      <p:sp>
        <p:nvSpPr>
          <p:cNvPr id="22" name="TextBox 21"/>
          <p:cNvSpPr txBox="1"/>
          <p:nvPr/>
        </p:nvSpPr>
        <p:spPr>
          <a:xfrm>
            <a:off x="7086600" y="6254496"/>
            <a:ext cx="2926080" cy="274320"/>
          </a:xfrm>
          <a:prstGeom prst="rect">
            <a:avLst/>
          </a:prstGeom>
          <a:noFill/>
        </p:spPr>
        <p:txBody>
          <a:bodyPr wrap="square" lIns="0" rIns="0" tIns="0" bIns="0">
            <a:spAutoFit/>
          </a:bodyPr>
          <a:lstStyle/>
          <a:p>
            <a:pPr algn="l">
              <a:defRPr sz="1170" b="1" i="0">
                <a:solidFill>
                  <a:srgbClr val="262420"/>
                </a:solidFill>
                <a:latin typeface="Arial"/>
              </a:defRPr>
            </a:pPr>
            <a:r>
              <a:t>3 R figures + 1 Python</a:t>
            </a:r>
          </a:p>
        </p:txBody>
      </p:sp>
      <p:sp>
        <p:nvSpPr>
          <p:cNvPr id="23" name="TextBox 22"/>
          <p:cNvSpPr txBox="1"/>
          <p:nvPr/>
        </p:nvSpPr>
        <p:spPr>
          <a:xfrm>
            <a:off x="10058400" y="6025896"/>
            <a:ext cx="1554480" cy="201168"/>
          </a:xfrm>
          <a:prstGeom prst="rect">
            <a:avLst/>
          </a:prstGeom>
          <a:noFill/>
        </p:spPr>
        <p:txBody>
          <a:bodyPr wrap="square" lIns="0" rIns="0" tIns="0" bIns="0">
            <a:spAutoFit/>
          </a:bodyPr>
          <a:lstStyle/>
          <a:p>
            <a:pPr algn="l">
              <a:defRPr sz="900" b="1" i="0">
                <a:solidFill>
                  <a:srgbClr val="A1523C"/>
                </a:solidFill>
                <a:latin typeface="Arial"/>
              </a:defRPr>
            </a:pPr>
            <a:r>
              <a:t>PRESENTER</a:t>
            </a:r>
          </a:p>
        </p:txBody>
      </p:sp>
      <p:sp>
        <p:nvSpPr>
          <p:cNvPr id="24" name="TextBox 23"/>
          <p:cNvSpPr txBox="1"/>
          <p:nvPr/>
        </p:nvSpPr>
        <p:spPr>
          <a:xfrm>
            <a:off x="10058400" y="6254496"/>
            <a:ext cx="1554480" cy="274320"/>
          </a:xfrm>
          <a:prstGeom prst="rect">
            <a:avLst/>
          </a:prstGeom>
          <a:noFill/>
        </p:spPr>
        <p:txBody>
          <a:bodyPr wrap="square" lIns="0" rIns="0" tIns="0" bIns="0">
            <a:spAutoFit/>
          </a:bodyPr>
          <a:lstStyle/>
          <a:p>
            <a:pPr algn="l">
              <a:defRPr sz="1170" b="1" i="0">
                <a:solidFill>
                  <a:srgbClr val="262420"/>
                </a:solidFill>
                <a:latin typeface="Arial"/>
              </a:defRPr>
            </a:pPr>
            <a:r>
              <a:t>Fatima Shahid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612648" y="274320"/>
            <a:ext cx="6858000" cy="210312"/>
          </a:xfrm>
          <a:prstGeom prst="rect">
            <a:avLst/>
          </a:prstGeom>
          <a:noFill/>
        </p:spPr>
        <p:txBody>
          <a:bodyPr wrap="square" lIns="0" rIns="0" tIns="0" bIns="0">
            <a:spAutoFit/>
          </a:bodyPr>
          <a:lstStyle/>
          <a:p>
            <a:pPr algn="l">
              <a:defRPr sz="950" b="1" i="0">
                <a:solidFill>
                  <a:srgbClr val="605B53"/>
                </a:solidFill>
                <a:latin typeface="Arial"/>
              </a:defRPr>
            </a:pPr>
            <a:r>
              <a:t>ECO346  /  DATA VISUALIZATION TECHNIQUES FOR ECONOMISTS</a:t>
            </a:r>
          </a:p>
        </p:txBody>
      </p:sp>
      <p:sp>
        <p:nvSpPr>
          <p:cNvPr id="3" name="TextBox 2"/>
          <p:cNvSpPr txBox="1"/>
          <p:nvPr/>
        </p:nvSpPr>
        <p:spPr>
          <a:xfrm>
            <a:off x="9601200" y="274320"/>
            <a:ext cx="1965960" cy="210312"/>
          </a:xfrm>
          <a:prstGeom prst="rect">
            <a:avLst/>
          </a:prstGeom>
          <a:noFill/>
        </p:spPr>
        <p:txBody>
          <a:bodyPr wrap="square" lIns="0" rIns="0" tIns="0" bIns="0">
            <a:spAutoFit/>
          </a:bodyPr>
          <a:lstStyle/>
          <a:p>
            <a:pPr algn="r">
              <a:defRPr sz="900" b="1" i="0">
                <a:solidFill>
                  <a:srgbClr val="A1523C"/>
                </a:solidFill>
                <a:latin typeface="Arial"/>
              </a:defRPr>
            </a:pPr>
            <a:r>
              <a:t>DESIGN   ·   2 / 04</a:t>
            </a:r>
          </a:p>
        </p:txBody>
      </p:sp>
      <p:sp>
        <p:nvSpPr>
          <p:cNvPr id="4" name="Rectangle 3"/>
          <p:cNvSpPr/>
          <p:nvPr/>
        </p:nvSpPr>
        <p:spPr>
          <a:xfrm>
            <a:off x="594360" y="667512"/>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841248"/>
            <a:ext cx="10881360" cy="466344"/>
          </a:xfrm>
          <a:prstGeom prst="rect">
            <a:avLst/>
          </a:prstGeom>
          <a:noFill/>
        </p:spPr>
        <p:txBody>
          <a:bodyPr wrap="square" lIns="0" rIns="0" tIns="0" bIns="0">
            <a:spAutoFit/>
          </a:bodyPr>
          <a:lstStyle/>
          <a:p>
            <a:pPr algn="l">
              <a:defRPr sz="2750" b="0" i="0">
                <a:solidFill>
                  <a:srgbClr val="262420"/>
                </a:solidFill>
                <a:latin typeface="Georgia"/>
              </a:defRPr>
            </a:pPr>
            <a:r>
              <a:t>One dataset. Two very different views.</a:t>
            </a:r>
          </a:p>
        </p:txBody>
      </p:sp>
      <p:sp>
        <p:nvSpPr>
          <p:cNvPr id="6" name="TextBox 5"/>
          <p:cNvSpPr txBox="1"/>
          <p:nvPr/>
        </p:nvSpPr>
        <p:spPr>
          <a:xfrm>
            <a:off x="640080" y="1399032"/>
            <a:ext cx="10789920" cy="310896"/>
          </a:xfrm>
          <a:prstGeom prst="rect">
            <a:avLst/>
          </a:prstGeom>
          <a:noFill/>
        </p:spPr>
        <p:txBody>
          <a:bodyPr wrap="square" lIns="0" rIns="0" tIns="0" bIns="0">
            <a:spAutoFit/>
          </a:bodyPr>
          <a:lstStyle/>
          <a:p>
            <a:pPr algn="l">
              <a:defRPr sz="1240" b="0" i="0">
                <a:solidFill>
                  <a:srgbClr val="605B53"/>
                </a:solidFill>
                <a:latin typeface="Arial"/>
              </a:defRPr>
            </a:pPr>
            <a:r>
              <a:t>A makeover that replaces overplotting with survey-weighted, age-specific comparisons.</a:t>
            </a:r>
          </a:p>
        </p:txBody>
      </p:sp>
      <p:sp>
        <p:nvSpPr>
          <p:cNvPr id="7" name="TextBox 6"/>
          <p:cNvSpPr txBox="1"/>
          <p:nvPr/>
        </p:nvSpPr>
        <p:spPr>
          <a:xfrm>
            <a:off x="694944" y="1819656"/>
            <a:ext cx="5330952" cy="210312"/>
          </a:xfrm>
          <a:prstGeom prst="rect">
            <a:avLst/>
          </a:prstGeom>
          <a:noFill/>
        </p:spPr>
        <p:txBody>
          <a:bodyPr wrap="square" lIns="0" rIns="0" tIns="0" bIns="0">
            <a:spAutoFit/>
          </a:bodyPr>
          <a:lstStyle/>
          <a:p>
            <a:pPr algn="l">
              <a:defRPr sz="1010" b="1" i="0">
                <a:solidFill>
                  <a:srgbClr val="A1523C"/>
                </a:solidFill>
                <a:latin typeface="Arial"/>
              </a:defRPr>
            </a:pPr>
            <a:r>
              <a:t>BEFORE   /   DEFAULT SCATTERPLOT</a:t>
            </a:r>
          </a:p>
        </p:txBody>
      </p:sp>
      <p:sp>
        <p:nvSpPr>
          <p:cNvPr id="8" name="TextBox 7"/>
          <p:cNvSpPr txBox="1"/>
          <p:nvPr/>
        </p:nvSpPr>
        <p:spPr>
          <a:xfrm>
            <a:off x="6199632" y="1819656"/>
            <a:ext cx="5212080" cy="210312"/>
          </a:xfrm>
          <a:prstGeom prst="rect">
            <a:avLst/>
          </a:prstGeom>
          <a:noFill/>
        </p:spPr>
        <p:txBody>
          <a:bodyPr wrap="square" lIns="0" rIns="0" tIns="0" bIns="0">
            <a:spAutoFit/>
          </a:bodyPr>
          <a:lstStyle/>
          <a:p>
            <a:pPr algn="l">
              <a:defRPr sz="1010" b="1" i="0">
                <a:solidFill>
                  <a:srgbClr val="A1523C"/>
                </a:solidFill>
                <a:latin typeface="Arial"/>
              </a:defRPr>
            </a:pPr>
            <a:r>
              <a:t>AFTER   /   WEIGHTED LITERACY BY AGE</a:t>
            </a:r>
          </a:p>
        </p:txBody>
      </p:sp>
      <p:sp>
        <p:nvSpPr>
          <p:cNvPr id="9" name="Rectangle 8"/>
          <p:cNvSpPr/>
          <p:nvPr/>
        </p:nvSpPr>
        <p:spPr>
          <a:xfrm>
            <a:off x="621792" y="2103120"/>
            <a:ext cx="5349240" cy="3218688"/>
          </a:xfrm>
          <a:prstGeom prst="rect">
            <a:avLst/>
          </a:prstGeom>
          <a:solidFill>
            <a:srgbClr val="FFFFFF"/>
          </a:solidFill>
          <a:ln w="8255">
            <a:solidFill>
              <a:srgbClr val="D1C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9048" y="2103120"/>
            <a:ext cx="5404104" cy="3218688"/>
          </a:xfrm>
          <a:prstGeom prst="rect">
            <a:avLst/>
          </a:prstGeom>
          <a:solidFill>
            <a:srgbClr val="FFFFFF"/>
          </a:solidFill>
          <a:ln w="8255">
            <a:solidFill>
              <a:srgbClr val="D1C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a2bb4b7-ee9c-5365-9901-cc978b43f25b.png"/>
          <p:cNvPicPr>
            <a:picLocks noChangeAspect="1"/>
          </p:cNvPicPr>
          <p:nvPr/>
        </p:nvPicPr>
        <p:blipFill>
          <a:blip r:embed="rId2"/>
          <a:stretch>
            <a:fillRect/>
          </a:stretch>
        </p:blipFill>
        <p:spPr>
          <a:xfrm>
            <a:off x="1017269" y="2185416"/>
            <a:ext cx="4567428" cy="3044952"/>
          </a:xfrm>
          <a:prstGeom prst="rect">
            <a:avLst/>
          </a:prstGeom>
        </p:spPr>
      </p:pic>
      <p:pic>
        <p:nvPicPr>
          <p:cNvPr id="12" name="Picture 11" descr="e4fbb248-5f4e-5d82-852f-74cfcd9e7d00.png"/>
          <p:cNvPicPr>
            <a:picLocks noChangeAspect="1"/>
          </p:cNvPicPr>
          <p:nvPr/>
        </p:nvPicPr>
        <p:blipFill>
          <a:blip r:embed="rId3"/>
          <a:stretch>
            <a:fillRect/>
          </a:stretch>
        </p:blipFill>
        <p:spPr>
          <a:xfrm>
            <a:off x="6413209" y="2185416"/>
            <a:ext cx="4784924" cy="3044952"/>
          </a:xfrm>
          <a:prstGeom prst="rect">
            <a:avLst/>
          </a:prstGeom>
        </p:spPr>
      </p:pic>
      <p:sp>
        <p:nvSpPr>
          <p:cNvPr id="13" name="Rectangle 12"/>
          <p:cNvSpPr/>
          <p:nvPr/>
        </p:nvSpPr>
        <p:spPr>
          <a:xfrm>
            <a:off x="594360" y="5495544"/>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623560"/>
            <a:ext cx="3337560" cy="201168"/>
          </a:xfrm>
          <a:prstGeom prst="rect">
            <a:avLst/>
          </a:prstGeom>
          <a:noFill/>
        </p:spPr>
        <p:txBody>
          <a:bodyPr wrap="square" lIns="0" rIns="0" tIns="0" bIns="0">
            <a:spAutoFit/>
          </a:bodyPr>
          <a:lstStyle/>
          <a:p>
            <a:pPr algn="l">
              <a:defRPr sz="1120" b="1" i="0">
                <a:solidFill>
                  <a:srgbClr val="262420"/>
                </a:solidFill>
                <a:latin typeface="Arial"/>
              </a:defRPr>
            </a:pPr>
            <a:r>
              <a:t>01  Less overplotting</a:t>
            </a:r>
          </a:p>
        </p:txBody>
      </p:sp>
      <p:sp>
        <p:nvSpPr>
          <p:cNvPr id="15" name="TextBox 14"/>
          <p:cNvSpPr txBox="1"/>
          <p:nvPr/>
        </p:nvSpPr>
        <p:spPr>
          <a:xfrm>
            <a:off x="658368" y="5888736"/>
            <a:ext cx="3200400" cy="420624"/>
          </a:xfrm>
          <a:prstGeom prst="rect">
            <a:avLst/>
          </a:prstGeom>
          <a:noFill/>
        </p:spPr>
        <p:txBody>
          <a:bodyPr wrap="square" lIns="0" rIns="0" tIns="0" bIns="0">
            <a:spAutoFit/>
          </a:bodyPr>
          <a:lstStyle/>
          <a:p>
            <a:pPr algn="l">
              <a:defRPr sz="1019" b="0" i="0">
                <a:solidFill>
                  <a:srgbClr val="605B53"/>
                </a:solidFill>
                <a:latin typeface="Arial"/>
              </a:defRPr>
            </a:pPr>
            <a:r>
              <a:t>Individual 0/1 dots → weighted</a:t>
            </a:r>
          </a:p>
          <a:p>
            <a:pPr algn="l">
              <a:defRPr sz="1019" b="0" i="0">
                <a:solidFill>
                  <a:srgbClr val="605B53"/>
                </a:solidFill>
                <a:latin typeface="Arial"/>
              </a:defRPr>
            </a:pPr>
            <a:r>
              <a:t>means in five-year age bands.</a:t>
            </a:r>
          </a:p>
        </p:txBody>
      </p:sp>
      <p:sp>
        <p:nvSpPr>
          <p:cNvPr id="16" name="TextBox 15"/>
          <p:cNvSpPr txBox="1"/>
          <p:nvPr/>
        </p:nvSpPr>
        <p:spPr>
          <a:xfrm>
            <a:off x="4462272" y="5623560"/>
            <a:ext cx="3337560" cy="201168"/>
          </a:xfrm>
          <a:prstGeom prst="rect">
            <a:avLst/>
          </a:prstGeom>
          <a:noFill/>
        </p:spPr>
        <p:txBody>
          <a:bodyPr wrap="square" lIns="0" rIns="0" tIns="0" bIns="0">
            <a:spAutoFit/>
          </a:bodyPr>
          <a:lstStyle/>
          <a:p>
            <a:pPr algn="l">
              <a:defRPr sz="1120" b="1" i="0">
                <a:solidFill>
                  <a:srgbClr val="262420"/>
                </a:solidFill>
                <a:latin typeface="Arial"/>
              </a:defRPr>
            </a:pPr>
            <a:r>
              <a:t>02  Easier comparisons</a:t>
            </a:r>
          </a:p>
        </p:txBody>
      </p:sp>
      <p:sp>
        <p:nvSpPr>
          <p:cNvPr id="17" name="TextBox 16"/>
          <p:cNvSpPr txBox="1"/>
          <p:nvPr/>
        </p:nvSpPr>
        <p:spPr>
          <a:xfrm>
            <a:off x="4462272" y="5888736"/>
            <a:ext cx="3200400" cy="420624"/>
          </a:xfrm>
          <a:prstGeom prst="rect">
            <a:avLst/>
          </a:prstGeom>
          <a:noFill/>
        </p:spPr>
        <p:txBody>
          <a:bodyPr wrap="square" lIns="0" rIns="0" tIns="0" bIns="0">
            <a:spAutoFit/>
          </a:bodyPr>
          <a:lstStyle/>
          <a:p>
            <a:pPr algn="l">
              <a:defRPr sz="1019" b="0" i="0">
                <a:solidFill>
                  <a:srgbClr val="605B53"/>
                </a:solidFill>
                <a:latin typeface="Arial"/>
              </a:defRPr>
            </a:pPr>
            <a:r>
              <a:t>Two connected series on the</a:t>
            </a:r>
          </a:p>
          <a:p>
            <a:pPr algn="l">
              <a:defRPr sz="1019" b="0" i="0">
                <a:solidFill>
                  <a:srgbClr val="605B53"/>
                </a:solidFill>
                <a:latin typeface="Arial"/>
              </a:defRPr>
            </a:pPr>
            <a:r>
              <a:t>same percentage scale.</a:t>
            </a:r>
          </a:p>
        </p:txBody>
      </p:sp>
      <p:sp>
        <p:nvSpPr>
          <p:cNvPr id="18" name="TextBox 17"/>
          <p:cNvSpPr txBox="1"/>
          <p:nvPr/>
        </p:nvSpPr>
        <p:spPr>
          <a:xfrm>
            <a:off x="8266175" y="5623560"/>
            <a:ext cx="3337560" cy="201168"/>
          </a:xfrm>
          <a:prstGeom prst="rect">
            <a:avLst/>
          </a:prstGeom>
          <a:noFill/>
        </p:spPr>
        <p:txBody>
          <a:bodyPr wrap="square" lIns="0" rIns="0" tIns="0" bIns="0">
            <a:spAutoFit/>
          </a:bodyPr>
          <a:lstStyle/>
          <a:p>
            <a:pPr algn="l">
              <a:defRPr sz="1120" b="1" i="0">
                <a:solidFill>
                  <a:srgbClr val="262420"/>
                </a:solidFill>
                <a:latin typeface="Arial"/>
              </a:defRPr>
            </a:pPr>
            <a:r>
              <a:t>03  The finding stands out</a:t>
            </a:r>
          </a:p>
        </p:txBody>
      </p:sp>
      <p:sp>
        <p:nvSpPr>
          <p:cNvPr id="19" name="TextBox 18"/>
          <p:cNvSpPr txBox="1"/>
          <p:nvPr/>
        </p:nvSpPr>
        <p:spPr>
          <a:xfrm>
            <a:off x="8266175" y="5888736"/>
            <a:ext cx="3200400" cy="420624"/>
          </a:xfrm>
          <a:prstGeom prst="rect">
            <a:avLst/>
          </a:prstGeom>
          <a:noFill/>
        </p:spPr>
        <p:txBody>
          <a:bodyPr wrap="square" lIns="0" rIns="0" tIns="0" bIns="0">
            <a:spAutoFit/>
          </a:bodyPr>
          <a:lstStyle/>
          <a:p>
            <a:pPr algn="l">
              <a:defRPr sz="1019" b="0" i="0">
                <a:solidFill>
                  <a:srgbClr val="605B53"/>
                </a:solidFill>
                <a:latin typeface="Arial"/>
              </a:defRPr>
            </a:pPr>
            <a:r>
              <a:t>Direct labels and the largest</a:t>
            </a:r>
          </a:p>
          <a:p>
            <a:pPr algn="l">
              <a:defRPr sz="1019" b="0" i="0">
                <a:solidFill>
                  <a:srgbClr val="605B53"/>
                </a:solidFill>
                <a:latin typeface="Arial"/>
              </a:defRPr>
            </a:pPr>
            <a:r>
              <a:t>gender-gap annotation.</a:t>
            </a:r>
          </a:p>
        </p:txBody>
      </p:sp>
      <p:sp>
        <p:nvSpPr>
          <p:cNvPr id="20" name="Rectangle 19"/>
          <p:cNvSpPr/>
          <p:nvPr/>
        </p:nvSpPr>
        <p:spPr>
          <a:xfrm>
            <a:off x="594360" y="6483096"/>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47104"/>
            <a:ext cx="8686800" cy="164592"/>
          </a:xfrm>
          <a:prstGeom prst="rect">
            <a:avLst/>
          </a:prstGeom>
          <a:noFill/>
        </p:spPr>
        <p:txBody>
          <a:bodyPr wrap="square" lIns="0" rIns="0" tIns="0" bIns="0">
            <a:spAutoFit/>
          </a:bodyPr>
          <a:lstStyle/>
          <a:p>
            <a:pPr algn="l">
              <a:defRPr sz="850" b="0" i="0">
                <a:solidFill>
                  <a:srgbClr val="605B53"/>
                </a:solidFill>
                <a:latin typeface="Arial"/>
              </a:defRPr>
            </a:pPr>
            <a:r>
              <a:t>PSLM 2019–20  ·  Rural Khyber Pakhtunkhwa (Variant 4)  ·  Fatima Shahid</a:t>
            </a:r>
          </a:p>
        </p:txBody>
      </p:sp>
      <p:sp>
        <p:nvSpPr>
          <p:cNvPr id="22" name="TextBox 21"/>
          <p:cNvSpPr txBox="1"/>
          <p:nvPr/>
        </p:nvSpPr>
        <p:spPr>
          <a:xfrm>
            <a:off x="10515600" y="6547104"/>
            <a:ext cx="1005840" cy="164592"/>
          </a:xfrm>
          <a:prstGeom prst="rect">
            <a:avLst/>
          </a:prstGeom>
          <a:noFill/>
        </p:spPr>
        <p:txBody>
          <a:bodyPr wrap="square" lIns="0" rIns="0" tIns="0" bIns="0">
            <a:spAutoFit/>
          </a:bodyPr>
          <a:lstStyle/>
          <a:p>
            <a:pPr algn="r">
              <a:defRPr sz="869" b="0" i="0">
                <a:solidFill>
                  <a:srgbClr val="605B53"/>
                </a:solidFill>
                <a:latin typeface="Arial"/>
              </a:defRPr>
            </a:pPr>
            <a:r>
              <a:t>2 / 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612648" y="274320"/>
            <a:ext cx="6858000" cy="210312"/>
          </a:xfrm>
          <a:prstGeom prst="rect">
            <a:avLst/>
          </a:prstGeom>
          <a:noFill/>
        </p:spPr>
        <p:txBody>
          <a:bodyPr wrap="square" lIns="0" rIns="0" tIns="0" bIns="0">
            <a:spAutoFit/>
          </a:bodyPr>
          <a:lstStyle/>
          <a:p>
            <a:pPr algn="l">
              <a:defRPr sz="950" b="1" i="0">
                <a:solidFill>
                  <a:srgbClr val="605B53"/>
                </a:solidFill>
                <a:latin typeface="Arial"/>
              </a:defRPr>
            </a:pPr>
            <a:r>
              <a:t>ECO346  /  DATA VISUALIZATION TECHNIQUES FOR ECONOMISTS</a:t>
            </a:r>
          </a:p>
        </p:txBody>
      </p:sp>
      <p:sp>
        <p:nvSpPr>
          <p:cNvPr id="3" name="TextBox 2"/>
          <p:cNvSpPr txBox="1"/>
          <p:nvPr/>
        </p:nvSpPr>
        <p:spPr>
          <a:xfrm>
            <a:off x="9601200" y="274320"/>
            <a:ext cx="1965960" cy="210312"/>
          </a:xfrm>
          <a:prstGeom prst="rect">
            <a:avLst/>
          </a:prstGeom>
          <a:noFill/>
        </p:spPr>
        <p:txBody>
          <a:bodyPr wrap="square" lIns="0" rIns="0" tIns="0" bIns="0">
            <a:spAutoFit/>
          </a:bodyPr>
          <a:lstStyle/>
          <a:p>
            <a:pPr algn="r">
              <a:defRPr sz="900" b="1" i="0">
                <a:solidFill>
                  <a:srgbClr val="A1523C"/>
                </a:solidFill>
                <a:latin typeface="Arial"/>
              </a:defRPr>
            </a:pPr>
            <a:r>
              <a:t>SPENDING   ·   3 / 04</a:t>
            </a:r>
          </a:p>
        </p:txBody>
      </p:sp>
      <p:sp>
        <p:nvSpPr>
          <p:cNvPr id="4" name="Rectangle 3"/>
          <p:cNvSpPr/>
          <p:nvPr/>
        </p:nvSpPr>
        <p:spPr>
          <a:xfrm>
            <a:off x="594360" y="667512"/>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841248"/>
            <a:ext cx="10881360" cy="466344"/>
          </a:xfrm>
          <a:prstGeom prst="rect">
            <a:avLst/>
          </a:prstGeom>
          <a:noFill/>
        </p:spPr>
        <p:txBody>
          <a:bodyPr wrap="square" lIns="0" rIns="0" tIns="0" bIns="0">
            <a:spAutoFit/>
          </a:bodyPr>
          <a:lstStyle/>
          <a:p>
            <a:pPr algn="l">
              <a:defRPr sz="2750" b="0" i="0">
                <a:solidFill>
                  <a:srgbClr val="262420"/>
                </a:solidFill>
                <a:latin typeface="Georgia"/>
              </a:defRPr>
            </a:pPr>
            <a:r>
              <a:t>Education spending is unevenly distributed.</a:t>
            </a:r>
          </a:p>
        </p:txBody>
      </p:sp>
      <p:sp>
        <p:nvSpPr>
          <p:cNvPr id="6" name="TextBox 5"/>
          <p:cNvSpPr txBox="1"/>
          <p:nvPr/>
        </p:nvSpPr>
        <p:spPr>
          <a:xfrm>
            <a:off x="640080" y="1399032"/>
            <a:ext cx="10789920" cy="310896"/>
          </a:xfrm>
          <a:prstGeom prst="rect">
            <a:avLst/>
          </a:prstGeom>
          <a:noFill/>
        </p:spPr>
        <p:txBody>
          <a:bodyPr wrap="square" lIns="0" rIns="0" tIns="0" bIns="0">
            <a:spAutoFit/>
          </a:bodyPr>
          <a:lstStyle/>
          <a:p>
            <a:pPr algn="l">
              <a:defRPr sz="1240" b="0" i="0">
                <a:solidFill>
                  <a:srgbClr val="605B53"/>
                </a:solidFill>
                <a:latin typeface="Arial"/>
              </a:defRPr>
            </a:pPr>
            <a:r>
              <a:t>Annual spending among students in rural KP; the axis uses a logarithmic scale.</a:t>
            </a:r>
          </a:p>
        </p:txBody>
      </p:sp>
      <p:sp>
        <p:nvSpPr>
          <p:cNvPr id="7" name="Rectangle 6"/>
          <p:cNvSpPr/>
          <p:nvPr/>
        </p:nvSpPr>
        <p:spPr>
          <a:xfrm>
            <a:off x="630936" y="1837943"/>
            <a:ext cx="7818120" cy="4160520"/>
          </a:xfrm>
          <a:prstGeom prst="rect">
            <a:avLst/>
          </a:prstGeom>
          <a:solidFill>
            <a:srgbClr val="FFFFFF"/>
          </a:solidFill>
          <a:ln w="8255">
            <a:solidFill>
              <a:srgbClr val="D1C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eb0d7f-1037-5638-90bb-8d631b3d0276.png"/>
          <p:cNvPicPr>
            <a:picLocks noChangeAspect="1"/>
          </p:cNvPicPr>
          <p:nvPr/>
        </p:nvPicPr>
        <p:blipFill>
          <a:blip r:embed="rId2"/>
          <a:stretch>
            <a:fillRect/>
          </a:stretch>
        </p:blipFill>
        <p:spPr>
          <a:xfrm>
            <a:off x="864870" y="1901952"/>
            <a:ext cx="7359395" cy="4014215"/>
          </a:xfrm>
          <a:prstGeom prst="rect">
            <a:avLst/>
          </a:prstGeom>
        </p:spPr>
      </p:pic>
      <p:sp>
        <p:nvSpPr>
          <p:cNvPr id="9" name="Rectangle 8"/>
          <p:cNvSpPr/>
          <p:nvPr/>
        </p:nvSpPr>
        <p:spPr>
          <a:xfrm>
            <a:off x="8750808" y="1847088"/>
            <a:ext cx="41148" cy="4151376"/>
          </a:xfrm>
          <a:prstGeom prst="rect">
            <a:avLst/>
          </a:prstGeom>
          <a:solidFill>
            <a:srgbClr val="6971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70848" y="1920240"/>
            <a:ext cx="2423160" cy="201168"/>
          </a:xfrm>
          <a:prstGeom prst="rect">
            <a:avLst/>
          </a:prstGeom>
          <a:noFill/>
        </p:spPr>
        <p:txBody>
          <a:bodyPr wrap="square" lIns="0" rIns="0" tIns="0" bIns="0">
            <a:spAutoFit/>
          </a:bodyPr>
          <a:lstStyle/>
          <a:p>
            <a:pPr algn="l">
              <a:defRPr sz="980" b="1" i="0">
                <a:solidFill>
                  <a:srgbClr val="697156"/>
                </a:solidFill>
                <a:latin typeface="Arial"/>
              </a:defRPr>
            </a:pPr>
            <a:r>
              <a:t>WEIGHTED DISTRIBUTION</a:t>
            </a:r>
          </a:p>
        </p:txBody>
      </p:sp>
      <p:sp>
        <p:nvSpPr>
          <p:cNvPr id="11" name="TextBox 10"/>
          <p:cNvSpPr txBox="1"/>
          <p:nvPr/>
        </p:nvSpPr>
        <p:spPr>
          <a:xfrm>
            <a:off x="9070848" y="2267712"/>
            <a:ext cx="2560320" cy="594360"/>
          </a:xfrm>
          <a:prstGeom prst="rect">
            <a:avLst/>
          </a:prstGeom>
          <a:noFill/>
        </p:spPr>
        <p:txBody>
          <a:bodyPr wrap="square" lIns="0" rIns="0" tIns="0" bIns="0">
            <a:spAutoFit/>
          </a:bodyPr>
          <a:lstStyle/>
          <a:p>
            <a:pPr algn="l">
              <a:defRPr sz="2550" b="0" i="0">
                <a:solidFill>
                  <a:srgbClr val="262420"/>
                </a:solidFill>
                <a:latin typeface="Georgia"/>
              </a:defRPr>
            </a:pPr>
            <a:r>
              <a:t>Rs 7,000</a:t>
            </a:r>
          </a:p>
        </p:txBody>
      </p:sp>
      <p:sp>
        <p:nvSpPr>
          <p:cNvPr id="12" name="TextBox 11"/>
          <p:cNvSpPr txBox="1"/>
          <p:nvPr/>
        </p:nvSpPr>
        <p:spPr>
          <a:xfrm>
            <a:off x="9070848" y="2825496"/>
            <a:ext cx="2468880" cy="320040"/>
          </a:xfrm>
          <a:prstGeom prst="rect">
            <a:avLst/>
          </a:prstGeom>
          <a:noFill/>
        </p:spPr>
        <p:txBody>
          <a:bodyPr wrap="square" lIns="0" rIns="0" tIns="0" bIns="0">
            <a:spAutoFit/>
          </a:bodyPr>
          <a:lstStyle/>
          <a:p>
            <a:pPr algn="l">
              <a:defRPr sz="1250" b="0" i="0">
                <a:solidFill>
                  <a:srgbClr val="605B53"/>
                </a:solidFill>
                <a:latin typeface="Arial"/>
              </a:defRPr>
            </a:pPr>
            <a:r>
              <a:t>Weighted median</a:t>
            </a:r>
          </a:p>
        </p:txBody>
      </p:sp>
      <p:sp>
        <p:nvSpPr>
          <p:cNvPr id="13" name="Rectangle 12"/>
          <p:cNvSpPr/>
          <p:nvPr/>
        </p:nvSpPr>
        <p:spPr>
          <a:xfrm>
            <a:off x="9061704" y="3264408"/>
            <a:ext cx="2441448"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3456432"/>
            <a:ext cx="2560320" cy="530352"/>
          </a:xfrm>
          <a:prstGeom prst="rect">
            <a:avLst/>
          </a:prstGeom>
          <a:noFill/>
        </p:spPr>
        <p:txBody>
          <a:bodyPr wrap="square" lIns="0" rIns="0" tIns="0" bIns="0">
            <a:spAutoFit/>
          </a:bodyPr>
          <a:lstStyle/>
          <a:p>
            <a:pPr algn="l">
              <a:defRPr sz="2550" b="0" i="0">
                <a:solidFill>
                  <a:srgbClr val="262420"/>
                </a:solidFill>
                <a:latin typeface="Georgia"/>
              </a:defRPr>
            </a:pPr>
            <a:r>
              <a:t>Rs 25,000</a:t>
            </a:r>
          </a:p>
        </p:txBody>
      </p:sp>
      <p:sp>
        <p:nvSpPr>
          <p:cNvPr id="15" name="TextBox 14"/>
          <p:cNvSpPr txBox="1"/>
          <p:nvPr/>
        </p:nvSpPr>
        <p:spPr>
          <a:xfrm>
            <a:off x="9070848" y="4032504"/>
            <a:ext cx="2560320" cy="320040"/>
          </a:xfrm>
          <a:prstGeom prst="rect">
            <a:avLst/>
          </a:prstGeom>
          <a:noFill/>
        </p:spPr>
        <p:txBody>
          <a:bodyPr wrap="square" lIns="0" rIns="0" tIns="0" bIns="0">
            <a:spAutoFit/>
          </a:bodyPr>
          <a:lstStyle/>
          <a:p>
            <a:pPr algn="l">
              <a:defRPr sz="1250" b="0" i="0">
                <a:solidFill>
                  <a:srgbClr val="605B53"/>
                </a:solidFill>
                <a:latin typeface="Arial"/>
              </a:defRPr>
            </a:pPr>
            <a:r>
              <a:t>90th percentile</a:t>
            </a:r>
          </a:p>
        </p:txBody>
      </p:sp>
      <p:sp>
        <p:nvSpPr>
          <p:cNvPr id="16" name="Rectangle 15"/>
          <p:cNvSpPr/>
          <p:nvPr/>
        </p:nvSpPr>
        <p:spPr>
          <a:xfrm>
            <a:off x="9061704" y="4471416"/>
            <a:ext cx="2441448"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8" y="4700016"/>
            <a:ext cx="2651760" cy="457200"/>
          </a:xfrm>
          <a:prstGeom prst="rect">
            <a:avLst/>
          </a:prstGeom>
          <a:noFill/>
        </p:spPr>
        <p:txBody>
          <a:bodyPr wrap="square" lIns="0" rIns="0" tIns="0" bIns="0">
            <a:spAutoFit/>
          </a:bodyPr>
          <a:lstStyle/>
          <a:p>
            <a:pPr algn="l">
              <a:defRPr sz="1560" b="1" i="0">
                <a:solidFill>
                  <a:srgbClr val="262420"/>
                </a:solidFill>
                <a:latin typeface="Arial"/>
              </a:defRPr>
            </a:pPr>
            <a:r>
              <a:t>4,912 students</a:t>
            </a:r>
          </a:p>
        </p:txBody>
      </p:sp>
      <p:sp>
        <p:nvSpPr>
          <p:cNvPr id="18" name="TextBox 17"/>
          <p:cNvSpPr txBox="1"/>
          <p:nvPr/>
        </p:nvSpPr>
        <p:spPr>
          <a:xfrm>
            <a:off x="9070848" y="5148072"/>
            <a:ext cx="2532888" cy="667512"/>
          </a:xfrm>
          <a:prstGeom prst="rect">
            <a:avLst/>
          </a:prstGeom>
          <a:noFill/>
        </p:spPr>
        <p:txBody>
          <a:bodyPr wrap="square" lIns="0" rIns="0" tIns="0" bIns="0">
            <a:spAutoFit/>
          </a:bodyPr>
          <a:lstStyle/>
          <a:p>
            <a:pPr algn="l">
              <a:defRPr sz="1140" b="0" i="0">
                <a:solidFill>
                  <a:srgbClr val="605B53"/>
                </a:solidFill>
                <a:latin typeface="Arial"/>
              </a:defRPr>
            </a:pPr>
            <a:r>
              <a:t>3 outside the plotted range of Rs 100–1,000,000.</a:t>
            </a:r>
          </a:p>
        </p:txBody>
      </p:sp>
      <p:sp>
        <p:nvSpPr>
          <p:cNvPr id="19" name="TextBox 18"/>
          <p:cNvSpPr txBox="1"/>
          <p:nvPr/>
        </p:nvSpPr>
        <p:spPr>
          <a:xfrm>
            <a:off x="713232" y="6135624"/>
            <a:ext cx="10789920" cy="210312"/>
          </a:xfrm>
          <a:prstGeom prst="rect">
            <a:avLst/>
          </a:prstGeom>
          <a:noFill/>
        </p:spPr>
        <p:txBody>
          <a:bodyPr wrap="square" lIns="0" rIns="0" tIns="0" bIns="0">
            <a:spAutoFit/>
          </a:bodyPr>
          <a:lstStyle/>
          <a:p>
            <a:pPr algn="l">
              <a:defRPr sz="1050" b="0" i="0">
                <a:solidFill>
                  <a:srgbClr val="605B53"/>
                </a:solidFill>
                <a:latin typeface="Arial"/>
              </a:defRPr>
            </a:pPr>
            <a:r>
              <a:t>READING THE GRAPH   |   The distribution spans a wide range. Weighted statistics describe the pattern; they do not explain its causes.</a:t>
            </a:r>
          </a:p>
        </p:txBody>
      </p:sp>
      <p:sp>
        <p:nvSpPr>
          <p:cNvPr id="20" name="Rectangle 19"/>
          <p:cNvSpPr/>
          <p:nvPr/>
        </p:nvSpPr>
        <p:spPr>
          <a:xfrm>
            <a:off x="594360" y="6483096"/>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47104"/>
            <a:ext cx="8686800" cy="164592"/>
          </a:xfrm>
          <a:prstGeom prst="rect">
            <a:avLst/>
          </a:prstGeom>
          <a:noFill/>
        </p:spPr>
        <p:txBody>
          <a:bodyPr wrap="square" lIns="0" rIns="0" tIns="0" bIns="0">
            <a:spAutoFit/>
          </a:bodyPr>
          <a:lstStyle/>
          <a:p>
            <a:pPr algn="l">
              <a:defRPr sz="850" b="0" i="0">
                <a:solidFill>
                  <a:srgbClr val="605B53"/>
                </a:solidFill>
                <a:latin typeface="Arial"/>
              </a:defRPr>
            </a:pPr>
            <a:r>
              <a:t>PSLM 2019–20  ·  Rural Khyber Pakhtunkhwa (Variant 4)  ·  Fatima Shahid</a:t>
            </a:r>
          </a:p>
        </p:txBody>
      </p:sp>
      <p:sp>
        <p:nvSpPr>
          <p:cNvPr id="22" name="TextBox 21"/>
          <p:cNvSpPr txBox="1"/>
          <p:nvPr/>
        </p:nvSpPr>
        <p:spPr>
          <a:xfrm>
            <a:off x="10515600" y="6547104"/>
            <a:ext cx="1005840" cy="164592"/>
          </a:xfrm>
          <a:prstGeom prst="rect">
            <a:avLst/>
          </a:prstGeom>
          <a:noFill/>
        </p:spPr>
        <p:txBody>
          <a:bodyPr wrap="square" lIns="0" rIns="0" tIns="0" bIns="0">
            <a:spAutoFit/>
          </a:bodyPr>
          <a:lstStyle/>
          <a:p>
            <a:pPr algn="r">
              <a:defRPr sz="869" b="0" i="0">
                <a:solidFill>
                  <a:srgbClr val="605B53"/>
                </a:solidFill>
                <a:latin typeface="Arial"/>
              </a:defRPr>
            </a:pPr>
            <a:r>
              <a:t>3 / 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612648" y="274320"/>
            <a:ext cx="6858000" cy="210312"/>
          </a:xfrm>
          <a:prstGeom prst="rect">
            <a:avLst/>
          </a:prstGeom>
          <a:noFill/>
        </p:spPr>
        <p:txBody>
          <a:bodyPr wrap="square" lIns="0" rIns="0" tIns="0" bIns="0">
            <a:spAutoFit/>
          </a:bodyPr>
          <a:lstStyle/>
          <a:p>
            <a:pPr algn="l">
              <a:defRPr sz="950" b="1" i="0">
                <a:solidFill>
                  <a:srgbClr val="605B53"/>
                </a:solidFill>
                <a:latin typeface="Arial"/>
              </a:defRPr>
            </a:pPr>
            <a:r>
              <a:t>ECO346  /  DATA VISUALIZATION TECHNIQUES FOR ECONOMISTS</a:t>
            </a:r>
          </a:p>
        </p:txBody>
      </p:sp>
      <p:sp>
        <p:nvSpPr>
          <p:cNvPr id="3" name="TextBox 2"/>
          <p:cNvSpPr txBox="1"/>
          <p:nvPr/>
        </p:nvSpPr>
        <p:spPr>
          <a:xfrm>
            <a:off x="9601200" y="274320"/>
            <a:ext cx="1965960" cy="210312"/>
          </a:xfrm>
          <a:prstGeom prst="rect">
            <a:avLst/>
          </a:prstGeom>
          <a:noFill/>
        </p:spPr>
        <p:txBody>
          <a:bodyPr wrap="square" lIns="0" rIns="0" tIns="0" bIns="0">
            <a:spAutoFit/>
          </a:bodyPr>
          <a:lstStyle/>
          <a:p>
            <a:pPr algn="r">
              <a:defRPr sz="900" b="1" i="0">
                <a:solidFill>
                  <a:srgbClr val="A1523C"/>
                </a:solidFill>
                <a:latin typeface="Arial"/>
              </a:defRPr>
            </a:pPr>
            <a:r>
              <a:t>CONCLUSION   ·   4 / 04</a:t>
            </a:r>
          </a:p>
        </p:txBody>
      </p:sp>
      <p:sp>
        <p:nvSpPr>
          <p:cNvPr id="4" name="Rectangle 3"/>
          <p:cNvSpPr/>
          <p:nvPr/>
        </p:nvSpPr>
        <p:spPr>
          <a:xfrm>
            <a:off x="594360" y="667512"/>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841248"/>
            <a:ext cx="10881360" cy="466344"/>
          </a:xfrm>
          <a:prstGeom prst="rect">
            <a:avLst/>
          </a:prstGeom>
          <a:noFill/>
        </p:spPr>
        <p:txBody>
          <a:bodyPr wrap="square" lIns="0" rIns="0" tIns="0" bIns="0">
            <a:spAutoFit/>
          </a:bodyPr>
          <a:lstStyle/>
          <a:p>
            <a:pPr algn="l">
              <a:defRPr sz="2750" b="0" i="0">
                <a:solidFill>
                  <a:srgbClr val="262420"/>
                </a:solidFill>
                <a:latin typeface="Georgia"/>
              </a:defRPr>
            </a:pPr>
            <a:r>
              <a:t>The pattern is clear. The explanation needs care.</a:t>
            </a:r>
          </a:p>
        </p:txBody>
      </p:sp>
      <p:sp>
        <p:nvSpPr>
          <p:cNvPr id="6" name="TextBox 5"/>
          <p:cNvSpPr txBox="1"/>
          <p:nvPr/>
        </p:nvSpPr>
        <p:spPr>
          <a:xfrm>
            <a:off x="640080" y="1399032"/>
            <a:ext cx="10789920" cy="310896"/>
          </a:xfrm>
          <a:prstGeom prst="rect">
            <a:avLst/>
          </a:prstGeom>
          <a:noFill/>
        </p:spPr>
        <p:txBody>
          <a:bodyPr wrap="square" lIns="0" rIns="0" tIns="0" bIns="0">
            <a:spAutoFit/>
          </a:bodyPr>
          <a:lstStyle/>
          <a:p>
            <a:pPr algn="l">
              <a:defRPr sz="1240" b="0" i="0">
                <a:solidFill>
                  <a:srgbClr val="605B53"/>
                </a:solidFill>
                <a:latin typeface="Arial"/>
              </a:defRPr>
            </a:pPr>
            <a:r>
              <a:t>The literacy gender gap persists across the age bands—and the R results reproduce in Python.</a:t>
            </a:r>
          </a:p>
        </p:txBody>
      </p:sp>
      <p:sp>
        <p:nvSpPr>
          <p:cNvPr id="7" name="TextBox 6"/>
          <p:cNvSpPr txBox="1"/>
          <p:nvPr/>
        </p:nvSpPr>
        <p:spPr>
          <a:xfrm>
            <a:off x="667512" y="1874519"/>
            <a:ext cx="5193792" cy="219456"/>
          </a:xfrm>
          <a:prstGeom prst="rect">
            <a:avLst/>
          </a:prstGeom>
          <a:noFill/>
        </p:spPr>
        <p:txBody>
          <a:bodyPr wrap="square" lIns="0" rIns="0" tIns="0" bIns="0">
            <a:spAutoFit/>
          </a:bodyPr>
          <a:lstStyle/>
          <a:p>
            <a:pPr algn="l">
              <a:defRPr sz="1130" b="1" i="0">
                <a:solidFill>
                  <a:srgbClr val="A1523C"/>
                </a:solidFill>
                <a:latin typeface="Arial"/>
              </a:defRPr>
            </a:pPr>
            <a:r>
              <a:t>LITERACY RATES   ·   RURAL KP</a:t>
            </a:r>
          </a:p>
        </p:txBody>
      </p:sp>
      <p:sp>
        <p:nvSpPr>
          <p:cNvPr id="8" name="TextBox 7"/>
          <p:cNvSpPr txBox="1"/>
          <p:nvPr/>
        </p:nvSpPr>
        <p:spPr>
          <a:xfrm>
            <a:off x="667512" y="2304288"/>
            <a:ext cx="4114800" cy="292608"/>
          </a:xfrm>
          <a:prstGeom prst="rect">
            <a:avLst/>
          </a:prstGeom>
          <a:noFill/>
        </p:spPr>
        <p:txBody>
          <a:bodyPr wrap="square" lIns="0" rIns="0" tIns="0" bIns="0">
            <a:spAutoFit/>
          </a:bodyPr>
          <a:lstStyle/>
          <a:p>
            <a:pPr algn="l">
              <a:defRPr sz="1750" b="1" i="0">
                <a:solidFill>
                  <a:srgbClr val="262420"/>
                </a:solidFill>
                <a:latin typeface="Georgia"/>
              </a:defRPr>
            </a:pPr>
            <a:r>
              <a:t>Ages 15–19</a:t>
            </a:r>
          </a:p>
        </p:txBody>
      </p:sp>
      <p:sp>
        <p:nvSpPr>
          <p:cNvPr id="9" name="TextBox 8"/>
          <p:cNvSpPr txBox="1"/>
          <p:nvPr/>
        </p:nvSpPr>
        <p:spPr>
          <a:xfrm>
            <a:off x="704088" y="2779776"/>
            <a:ext cx="640080" cy="182880"/>
          </a:xfrm>
          <a:prstGeom prst="rect">
            <a:avLst/>
          </a:prstGeom>
          <a:noFill/>
        </p:spPr>
        <p:txBody>
          <a:bodyPr wrap="square" lIns="0" rIns="0" tIns="0" bIns="0">
            <a:spAutoFit/>
          </a:bodyPr>
          <a:lstStyle/>
          <a:p>
            <a:pPr algn="l">
              <a:defRPr sz="1140" b="0" i="0">
                <a:solidFill>
                  <a:srgbClr val="605B53"/>
                </a:solidFill>
                <a:latin typeface="Arial"/>
              </a:defRPr>
            </a:pPr>
            <a:r>
              <a:t>Men</a:t>
            </a:r>
          </a:p>
        </p:txBody>
      </p:sp>
      <p:sp>
        <p:nvSpPr>
          <p:cNvPr id="10" name="Rectangle 9"/>
          <p:cNvSpPr/>
          <p:nvPr/>
        </p:nvSpPr>
        <p:spPr>
          <a:xfrm>
            <a:off x="1481328" y="2779776"/>
            <a:ext cx="3127248" cy="201168"/>
          </a:xfrm>
          <a:prstGeom prst="rect">
            <a:avLst/>
          </a:prstGeom>
          <a:solidFill>
            <a:srgbClr val="26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8304" y="2734056"/>
            <a:ext cx="914400" cy="265176"/>
          </a:xfrm>
          <a:prstGeom prst="rect">
            <a:avLst/>
          </a:prstGeom>
          <a:noFill/>
        </p:spPr>
        <p:txBody>
          <a:bodyPr wrap="square" lIns="0" rIns="0" tIns="0" bIns="0">
            <a:spAutoFit/>
          </a:bodyPr>
          <a:lstStyle/>
          <a:p>
            <a:pPr algn="l">
              <a:defRPr sz="1320" b="1" i="0">
                <a:solidFill>
                  <a:srgbClr val="262420"/>
                </a:solidFill>
                <a:latin typeface="Arial"/>
              </a:defRPr>
            </a:pPr>
            <a:r>
              <a:t>85.1%</a:t>
            </a:r>
          </a:p>
        </p:txBody>
      </p:sp>
      <p:sp>
        <p:nvSpPr>
          <p:cNvPr id="12" name="TextBox 11"/>
          <p:cNvSpPr txBox="1"/>
          <p:nvPr/>
        </p:nvSpPr>
        <p:spPr>
          <a:xfrm>
            <a:off x="704088" y="3154680"/>
            <a:ext cx="640080" cy="192024"/>
          </a:xfrm>
          <a:prstGeom prst="rect">
            <a:avLst/>
          </a:prstGeom>
          <a:noFill/>
        </p:spPr>
        <p:txBody>
          <a:bodyPr wrap="square" lIns="0" rIns="0" tIns="0" bIns="0">
            <a:spAutoFit/>
          </a:bodyPr>
          <a:lstStyle/>
          <a:p>
            <a:pPr algn="l">
              <a:defRPr sz="1140" b="0" i="0">
                <a:solidFill>
                  <a:srgbClr val="605B53"/>
                </a:solidFill>
                <a:latin typeface="Arial"/>
              </a:defRPr>
            </a:pPr>
            <a:r>
              <a:t>Women</a:t>
            </a:r>
          </a:p>
        </p:txBody>
      </p:sp>
      <p:sp>
        <p:nvSpPr>
          <p:cNvPr id="13" name="Rectangle 12"/>
          <p:cNvSpPr/>
          <p:nvPr/>
        </p:nvSpPr>
        <p:spPr>
          <a:xfrm>
            <a:off x="1481328" y="3154680"/>
            <a:ext cx="1938528" cy="201168"/>
          </a:xfrm>
          <a:prstGeom prst="rect">
            <a:avLst/>
          </a:prstGeom>
          <a:solidFill>
            <a:srgbClr val="A15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9584" y="3108960"/>
            <a:ext cx="914400" cy="265176"/>
          </a:xfrm>
          <a:prstGeom prst="rect">
            <a:avLst/>
          </a:prstGeom>
          <a:noFill/>
        </p:spPr>
        <p:txBody>
          <a:bodyPr wrap="square" lIns="0" rIns="0" tIns="0" bIns="0">
            <a:spAutoFit/>
          </a:bodyPr>
          <a:lstStyle/>
          <a:p>
            <a:pPr algn="l">
              <a:defRPr sz="1320" b="1" i="0">
                <a:solidFill>
                  <a:srgbClr val="A1523C"/>
                </a:solidFill>
                <a:latin typeface="Arial"/>
              </a:defRPr>
            </a:pPr>
            <a:r>
              <a:t>52.6%</a:t>
            </a:r>
          </a:p>
        </p:txBody>
      </p:sp>
      <p:sp>
        <p:nvSpPr>
          <p:cNvPr id="15" name="Rectangle 14"/>
          <p:cNvSpPr/>
          <p:nvPr/>
        </p:nvSpPr>
        <p:spPr>
          <a:xfrm>
            <a:off x="676656" y="3739896"/>
            <a:ext cx="5084064"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931920"/>
            <a:ext cx="4114800" cy="274320"/>
          </a:xfrm>
          <a:prstGeom prst="rect">
            <a:avLst/>
          </a:prstGeom>
          <a:noFill/>
        </p:spPr>
        <p:txBody>
          <a:bodyPr wrap="square" lIns="0" rIns="0" tIns="0" bIns="0">
            <a:spAutoFit/>
          </a:bodyPr>
          <a:lstStyle/>
          <a:p>
            <a:pPr algn="l">
              <a:defRPr sz="1750" b="1" i="0">
                <a:solidFill>
                  <a:srgbClr val="262420"/>
                </a:solidFill>
                <a:latin typeface="Georgia"/>
              </a:defRPr>
            </a:pPr>
            <a:r>
              <a:t>Ages 45–49</a:t>
            </a:r>
          </a:p>
        </p:txBody>
      </p:sp>
      <p:sp>
        <p:nvSpPr>
          <p:cNvPr id="17" name="TextBox 16"/>
          <p:cNvSpPr txBox="1"/>
          <p:nvPr/>
        </p:nvSpPr>
        <p:spPr>
          <a:xfrm>
            <a:off x="704088" y="4379976"/>
            <a:ext cx="640080" cy="182880"/>
          </a:xfrm>
          <a:prstGeom prst="rect">
            <a:avLst/>
          </a:prstGeom>
          <a:noFill/>
        </p:spPr>
        <p:txBody>
          <a:bodyPr wrap="square" lIns="0" rIns="0" tIns="0" bIns="0">
            <a:spAutoFit/>
          </a:bodyPr>
          <a:lstStyle/>
          <a:p>
            <a:pPr algn="l">
              <a:defRPr sz="1140" b="0" i="0">
                <a:solidFill>
                  <a:srgbClr val="605B53"/>
                </a:solidFill>
                <a:latin typeface="Arial"/>
              </a:defRPr>
            </a:pPr>
            <a:r>
              <a:t>Men</a:t>
            </a:r>
          </a:p>
        </p:txBody>
      </p:sp>
      <p:sp>
        <p:nvSpPr>
          <p:cNvPr id="18" name="Rectangle 17"/>
          <p:cNvSpPr/>
          <p:nvPr/>
        </p:nvSpPr>
        <p:spPr>
          <a:xfrm>
            <a:off x="1481328" y="4379976"/>
            <a:ext cx="2103120" cy="201168"/>
          </a:xfrm>
          <a:prstGeom prst="rect">
            <a:avLst/>
          </a:prstGeom>
          <a:solidFill>
            <a:srgbClr val="26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03320" y="4334256"/>
            <a:ext cx="914400" cy="265176"/>
          </a:xfrm>
          <a:prstGeom prst="rect">
            <a:avLst/>
          </a:prstGeom>
          <a:noFill/>
        </p:spPr>
        <p:txBody>
          <a:bodyPr wrap="square" lIns="0" rIns="0" tIns="0" bIns="0">
            <a:spAutoFit/>
          </a:bodyPr>
          <a:lstStyle/>
          <a:p>
            <a:pPr algn="l">
              <a:defRPr sz="1320" b="1" i="0">
                <a:solidFill>
                  <a:srgbClr val="262420"/>
                </a:solidFill>
                <a:latin typeface="Arial"/>
              </a:defRPr>
            </a:pPr>
            <a:r>
              <a:t>57.0%</a:t>
            </a:r>
          </a:p>
        </p:txBody>
      </p:sp>
      <p:sp>
        <p:nvSpPr>
          <p:cNvPr id="20" name="TextBox 19"/>
          <p:cNvSpPr txBox="1"/>
          <p:nvPr/>
        </p:nvSpPr>
        <p:spPr>
          <a:xfrm>
            <a:off x="704088" y="4764024"/>
            <a:ext cx="640080" cy="192024"/>
          </a:xfrm>
          <a:prstGeom prst="rect">
            <a:avLst/>
          </a:prstGeom>
          <a:noFill/>
        </p:spPr>
        <p:txBody>
          <a:bodyPr wrap="square" lIns="0" rIns="0" tIns="0" bIns="0">
            <a:spAutoFit/>
          </a:bodyPr>
          <a:lstStyle/>
          <a:p>
            <a:pPr algn="l">
              <a:defRPr sz="1140" b="0" i="0">
                <a:solidFill>
                  <a:srgbClr val="605B53"/>
                </a:solidFill>
                <a:latin typeface="Arial"/>
              </a:defRPr>
            </a:pPr>
            <a:r>
              <a:t>Women</a:t>
            </a:r>
          </a:p>
        </p:txBody>
      </p:sp>
      <p:sp>
        <p:nvSpPr>
          <p:cNvPr id="21" name="Rectangle 20"/>
          <p:cNvSpPr/>
          <p:nvPr/>
        </p:nvSpPr>
        <p:spPr>
          <a:xfrm>
            <a:off x="1481328" y="4764024"/>
            <a:ext cx="393192" cy="201168"/>
          </a:xfrm>
          <a:prstGeom prst="rect">
            <a:avLst/>
          </a:prstGeom>
          <a:solidFill>
            <a:srgbClr val="A15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29968" y="4718304"/>
            <a:ext cx="914400" cy="265176"/>
          </a:xfrm>
          <a:prstGeom prst="rect">
            <a:avLst/>
          </a:prstGeom>
          <a:noFill/>
        </p:spPr>
        <p:txBody>
          <a:bodyPr wrap="square" lIns="0" rIns="0" tIns="0" bIns="0">
            <a:spAutoFit/>
          </a:bodyPr>
          <a:lstStyle/>
          <a:p>
            <a:pPr algn="l">
              <a:defRPr sz="1320" b="1" i="0">
                <a:solidFill>
                  <a:srgbClr val="A1523C"/>
                </a:solidFill>
                <a:latin typeface="Arial"/>
              </a:defRPr>
            </a:pPr>
            <a:r>
              <a:t>10.5%</a:t>
            </a:r>
          </a:p>
        </p:txBody>
      </p:sp>
      <p:sp>
        <p:nvSpPr>
          <p:cNvPr id="23" name="TextBox 22"/>
          <p:cNvSpPr txBox="1"/>
          <p:nvPr/>
        </p:nvSpPr>
        <p:spPr>
          <a:xfrm>
            <a:off x="694944" y="5321808"/>
            <a:ext cx="5029200" cy="457200"/>
          </a:xfrm>
          <a:prstGeom prst="rect">
            <a:avLst/>
          </a:prstGeom>
          <a:noFill/>
        </p:spPr>
        <p:txBody>
          <a:bodyPr wrap="square" lIns="0" rIns="0" tIns="0" bIns="0">
            <a:spAutoFit/>
          </a:bodyPr>
          <a:lstStyle/>
          <a:p>
            <a:pPr algn="l">
              <a:defRPr sz="1240" b="1" i="0">
                <a:solidFill>
                  <a:srgbClr val="A1523C"/>
                </a:solidFill>
                <a:latin typeface="Arial"/>
              </a:defRPr>
            </a:pPr>
            <a:r>
              <a:t>Largest gap: 46.6 percentage points at ages 45–49</a:t>
            </a:r>
          </a:p>
        </p:txBody>
      </p:sp>
      <p:sp>
        <p:nvSpPr>
          <p:cNvPr id="24" name="Rectangle 23"/>
          <p:cNvSpPr/>
          <p:nvPr/>
        </p:nvSpPr>
        <p:spPr>
          <a:xfrm>
            <a:off x="6144768" y="1920240"/>
            <a:ext cx="41148" cy="3867912"/>
          </a:xfrm>
          <a:prstGeom prst="rect">
            <a:avLst/>
          </a:prstGeom>
          <a:solidFill>
            <a:srgbClr val="6971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901952"/>
            <a:ext cx="4809744" cy="246888"/>
          </a:xfrm>
          <a:prstGeom prst="rect">
            <a:avLst/>
          </a:prstGeom>
          <a:noFill/>
        </p:spPr>
        <p:txBody>
          <a:bodyPr wrap="square" lIns="0" rIns="0" tIns="0" bIns="0">
            <a:spAutoFit/>
          </a:bodyPr>
          <a:lstStyle/>
          <a:p>
            <a:pPr algn="l">
              <a:defRPr sz="1140" b="1" i="0">
                <a:solidFill>
                  <a:srgbClr val="697156"/>
                </a:solidFill>
                <a:latin typeface="Arial"/>
              </a:defRPr>
            </a:pPr>
            <a:r>
              <a:t>CHECKED IN TWO LANGUAGES</a:t>
            </a:r>
          </a:p>
        </p:txBody>
      </p:sp>
      <p:sp>
        <p:nvSpPr>
          <p:cNvPr id="26" name="TextBox 25"/>
          <p:cNvSpPr txBox="1"/>
          <p:nvPr/>
        </p:nvSpPr>
        <p:spPr>
          <a:xfrm>
            <a:off x="6446520" y="2331720"/>
            <a:ext cx="5074920" cy="557784"/>
          </a:xfrm>
          <a:prstGeom prst="rect">
            <a:avLst/>
          </a:prstGeom>
          <a:noFill/>
        </p:spPr>
        <p:txBody>
          <a:bodyPr wrap="square" lIns="0" rIns="0" tIns="0" bIns="0">
            <a:spAutoFit/>
          </a:bodyPr>
          <a:lstStyle/>
          <a:p>
            <a:pPr algn="l">
              <a:defRPr sz="3300" b="0" i="0">
                <a:solidFill>
                  <a:srgbClr val="262420"/>
                </a:solidFill>
                <a:latin typeface="Georgia"/>
              </a:defRPr>
            </a:pPr>
            <a:r>
              <a:t>22 / 22</a:t>
            </a:r>
          </a:p>
        </p:txBody>
      </p:sp>
      <p:sp>
        <p:nvSpPr>
          <p:cNvPr id="27" name="TextBox 26"/>
          <p:cNvSpPr txBox="1"/>
          <p:nvPr/>
        </p:nvSpPr>
        <p:spPr>
          <a:xfrm>
            <a:off x="6464808" y="2953512"/>
            <a:ext cx="4901184" cy="512064"/>
          </a:xfrm>
          <a:prstGeom prst="rect">
            <a:avLst/>
          </a:prstGeom>
          <a:noFill/>
        </p:spPr>
        <p:txBody>
          <a:bodyPr wrap="square" lIns="0" rIns="0" tIns="0" bIns="0">
            <a:spAutoFit/>
          </a:bodyPr>
          <a:lstStyle/>
          <a:p>
            <a:pPr algn="l">
              <a:defRPr sz="1410" b="0" i="0">
                <a:solidFill>
                  <a:srgbClr val="262420"/>
                </a:solidFill>
                <a:latin typeface="Arial"/>
              </a:defRPr>
            </a:pPr>
            <a:r>
              <a:t>Age–sex literacy cells matched between R and Python to one decimal place.</a:t>
            </a:r>
          </a:p>
        </p:txBody>
      </p:sp>
      <p:sp>
        <p:nvSpPr>
          <p:cNvPr id="28" name="Rectangle 27"/>
          <p:cNvSpPr/>
          <p:nvPr/>
        </p:nvSpPr>
        <p:spPr>
          <a:xfrm>
            <a:off x="6473952" y="3858768"/>
            <a:ext cx="498347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5664" y="4078224"/>
            <a:ext cx="4846320" cy="274320"/>
          </a:xfrm>
          <a:prstGeom prst="rect">
            <a:avLst/>
          </a:prstGeom>
          <a:noFill/>
        </p:spPr>
        <p:txBody>
          <a:bodyPr wrap="square" lIns="0" rIns="0" tIns="0" bIns="0">
            <a:spAutoFit/>
          </a:bodyPr>
          <a:lstStyle/>
          <a:p>
            <a:pPr algn="l">
              <a:defRPr sz="1100" b="1" i="0">
                <a:solidFill>
                  <a:srgbClr val="A1523C"/>
                </a:solidFill>
                <a:latin typeface="Arial"/>
              </a:defRPr>
            </a:pPr>
            <a:r>
              <a:t>IMPORTANT LIMITATION</a:t>
            </a:r>
          </a:p>
        </p:txBody>
      </p:sp>
      <p:sp>
        <p:nvSpPr>
          <p:cNvPr id="30" name="TextBox 29"/>
          <p:cNvSpPr txBox="1"/>
          <p:nvPr/>
        </p:nvSpPr>
        <p:spPr>
          <a:xfrm>
            <a:off x="6455664" y="4443984"/>
            <a:ext cx="4901184" cy="1051560"/>
          </a:xfrm>
          <a:prstGeom prst="rect">
            <a:avLst/>
          </a:prstGeom>
          <a:noFill/>
        </p:spPr>
        <p:txBody>
          <a:bodyPr wrap="square" lIns="0" rIns="0" tIns="0" bIns="0">
            <a:spAutoFit/>
          </a:bodyPr>
          <a:lstStyle/>
          <a:p>
            <a:pPr algn="l">
              <a:defRPr sz="1340" b="0" i="0">
                <a:solidFill>
                  <a:srgbClr val="262420"/>
                </a:solidFill>
                <a:latin typeface="Arial"/>
              </a:defRPr>
            </a:pPr>
            <a:r>
              <a:t>These are cross-sectional associations. The graphs do not establish why the literacy gap exists, or how an individual’s literacy changes over time.</a:t>
            </a:r>
          </a:p>
        </p:txBody>
      </p:sp>
      <p:sp>
        <p:nvSpPr>
          <p:cNvPr id="31" name="Rectangle 30"/>
          <p:cNvSpPr/>
          <p:nvPr/>
        </p:nvSpPr>
        <p:spPr>
          <a:xfrm>
            <a:off x="594360" y="5916168"/>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6071616"/>
            <a:ext cx="10881360" cy="301752"/>
          </a:xfrm>
          <a:prstGeom prst="rect">
            <a:avLst/>
          </a:prstGeom>
          <a:noFill/>
        </p:spPr>
        <p:txBody>
          <a:bodyPr wrap="square" lIns="0" rIns="0" tIns="0" bIns="0">
            <a:spAutoFit/>
          </a:bodyPr>
          <a:lstStyle/>
          <a:p>
            <a:pPr algn="l">
              <a:defRPr sz="1320" b="0" i="1">
                <a:solidFill>
                  <a:srgbClr val="262420"/>
                </a:solidFill>
                <a:latin typeface="Georgia"/>
              </a:defRPr>
            </a:pPr>
            <a:r>
              <a:t>Better graphs make inequality easier to see; careful interpretation keeps us from overstating the evidence.</a:t>
            </a:r>
          </a:p>
        </p:txBody>
      </p:sp>
      <p:sp>
        <p:nvSpPr>
          <p:cNvPr id="33" name="Rectangle 32"/>
          <p:cNvSpPr/>
          <p:nvPr/>
        </p:nvSpPr>
        <p:spPr>
          <a:xfrm>
            <a:off x="594360" y="6483096"/>
            <a:ext cx="11018519" cy="10972"/>
          </a:xfrm>
          <a:prstGeom prst="rect">
            <a:avLst/>
          </a:prstGeom>
          <a:solidFill>
            <a:srgbClr val="D1CA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6547104"/>
            <a:ext cx="8686800" cy="164592"/>
          </a:xfrm>
          <a:prstGeom prst="rect">
            <a:avLst/>
          </a:prstGeom>
          <a:noFill/>
        </p:spPr>
        <p:txBody>
          <a:bodyPr wrap="square" lIns="0" rIns="0" tIns="0" bIns="0">
            <a:spAutoFit/>
          </a:bodyPr>
          <a:lstStyle/>
          <a:p>
            <a:pPr algn="l">
              <a:defRPr sz="850" b="0" i="0">
                <a:solidFill>
                  <a:srgbClr val="605B53"/>
                </a:solidFill>
                <a:latin typeface="Arial"/>
              </a:defRPr>
            </a:pPr>
            <a:r>
              <a:t>PSLM 2019–20  ·  Rural Khyber Pakhtunkhwa (Variant 4)  ·  Fatima Shahid</a:t>
            </a:r>
          </a:p>
        </p:txBody>
      </p:sp>
      <p:sp>
        <p:nvSpPr>
          <p:cNvPr id="35" name="TextBox 34"/>
          <p:cNvSpPr txBox="1"/>
          <p:nvPr/>
        </p:nvSpPr>
        <p:spPr>
          <a:xfrm>
            <a:off x="10515600" y="6547104"/>
            <a:ext cx="1005840" cy="164592"/>
          </a:xfrm>
          <a:prstGeom prst="rect">
            <a:avLst/>
          </a:prstGeom>
          <a:noFill/>
        </p:spPr>
        <p:txBody>
          <a:bodyPr wrap="square" lIns="0" rIns="0" tIns="0" bIns="0">
            <a:spAutoFit/>
          </a:bodyPr>
          <a:lstStyle/>
          <a:p>
            <a:pPr algn="r">
              <a:defRPr sz="869" b="0" i="0">
                <a:solidFill>
                  <a:srgbClr val="605B53"/>
                </a:solidFill>
                <a:latin typeface="Arial"/>
              </a:defRPr>
            </a:pPr>
            <a:r>
              <a:t>4 / 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